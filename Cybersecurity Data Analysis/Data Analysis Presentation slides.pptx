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6" r:id="rId9"/>
    <p:sldId id="267" r:id="rId10"/>
    <p:sldId id="268" r:id="rId11"/>
    <p:sldId id="269" r:id="rId12"/>
    <p:sldId id="270" r:id="rId13"/>
    <p:sldId id="264" r:id="rId14"/>
    <p:sldId id="265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71BA28-E0D6-66AA-5DC3-C91427AE7FEC}" v="280" dt="2025-11-12T06:50:19.868"/>
    <p1510:client id="{83954DC7-CA5C-C221-EC05-4C840E3044C5}" v="41" dt="2025-11-12T21:49:18.606"/>
    <p1510:client id="{E1F445AD-02E2-D3A5-631F-223FC148C6A8}" v="268" dt="2025-11-12T10:46:45.9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3883CC-FDD8-422F-9EA8-544E2CF15FA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485D5F1-796F-4669-A631-86931610FA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Descriptive Analysis: Statistical summaries (mean, median, mode, ranges</a:t>
          </a:r>
          <a:r>
            <a:rPr lang="en-US" dirty="0">
              <a:latin typeface="Neue Haas Grotesk Text Pro"/>
            </a:rPr>
            <a:t>, etc.)</a:t>
          </a:r>
        </a:p>
      </dgm:t>
    </dgm:pt>
    <dgm:pt modelId="{05F3B943-8CD0-475F-8835-001FF6E850C8}" type="parTrans" cxnId="{E32B29F4-56A0-4D55-A44D-92DAAE8CC6B1}">
      <dgm:prSet/>
      <dgm:spPr/>
      <dgm:t>
        <a:bodyPr/>
        <a:lstStyle/>
        <a:p>
          <a:endParaRPr lang="en-US"/>
        </a:p>
      </dgm:t>
    </dgm:pt>
    <dgm:pt modelId="{968FFAA3-7907-4F7C-8398-01B04ADAE18B}" type="sibTrans" cxnId="{E32B29F4-56A0-4D55-A44D-92DAAE8CC6B1}">
      <dgm:prSet/>
      <dgm:spPr/>
      <dgm:t>
        <a:bodyPr/>
        <a:lstStyle/>
        <a:p>
          <a:endParaRPr lang="en-US"/>
        </a:p>
      </dgm:t>
    </dgm:pt>
    <dgm:pt modelId="{8BFBB721-9BB1-4019-88E0-C6B7CC00FE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Exploratory Analysis: Visualizations (bar charts, boxplots, histograms, heatmaps, scatter plots, pie charts)</a:t>
          </a:r>
        </a:p>
      </dgm:t>
    </dgm:pt>
    <dgm:pt modelId="{83AAAA10-D303-4FF3-BC94-3F5DF687BA9D}" type="parTrans" cxnId="{9F9DFF53-49BC-4F14-A5B4-19584ED06A18}">
      <dgm:prSet/>
      <dgm:spPr/>
      <dgm:t>
        <a:bodyPr/>
        <a:lstStyle/>
        <a:p>
          <a:endParaRPr lang="en-US"/>
        </a:p>
      </dgm:t>
    </dgm:pt>
    <dgm:pt modelId="{26656910-BE10-4409-A86C-254B41660B73}" type="sibTrans" cxnId="{9F9DFF53-49BC-4F14-A5B4-19584ED06A18}">
      <dgm:prSet/>
      <dgm:spPr/>
      <dgm:t>
        <a:bodyPr/>
        <a:lstStyle/>
        <a:p>
          <a:endParaRPr lang="en-US"/>
        </a:p>
      </dgm:t>
    </dgm:pt>
    <dgm:pt modelId="{31E2D8E4-8E30-4DE3-844D-AFC0A76B42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Predictive Analysis: ML models (Logistic Regression, Decision Tree, Random Forest)</a:t>
          </a:r>
        </a:p>
      </dgm:t>
    </dgm:pt>
    <dgm:pt modelId="{050F0F56-FBFB-42D7-B830-F204ECE0FC64}" type="parTrans" cxnId="{9823E253-39BD-487D-B9E4-1A75790E0727}">
      <dgm:prSet/>
      <dgm:spPr/>
      <dgm:t>
        <a:bodyPr/>
        <a:lstStyle/>
        <a:p>
          <a:endParaRPr lang="en-US"/>
        </a:p>
      </dgm:t>
    </dgm:pt>
    <dgm:pt modelId="{309E1CEA-017E-4078-8698-06BC42F364FC}" type="sibTrans" cxnId="{9823E253-39BD-487D-B9E4-1A75790E0727}">
      <dgm:prSet/>
      <dgm:spPr/>
      <dgm:t>
        <a:bodyPr/>
        <a:lstStyle/>
        <a:p>
          <a:endParaRPr lang="en-US"/>
        </a:p>
      </dgm:t>
    </dgm:pt>
    <dgm:pt modelId="{A9C4424B-E236-4C55-AA7A-086FE8822414}" type="pres">
      <dgm:prSet presAssocID="{BC3883CC-FDD8-422F-9EA8-544E2CF15FA1}" presName="root" presStyleCnt="0">
        <dgm:presLayoutVars>
          <dgm:dir/>
          <dgm:resizeHandles val="exact"/>
        </dgm:presLayoutVars>
      </dgm:prSet>
      <dgm:spPr/>
    </dgm:pt>
    <dgm:pt modelId="{118A42AD-D562-4753-AEAC-FD4B6FBD6E5E}" type="pres">
      <dgm:prSet presAssocID="{6485D5F1-796F-4669-A631-86931610FA93}" presName="compNode" presStyleCnt="0"/>
      <dgm:spPr/>
    </dgm:pt>
    <dgm:pt modelId="{4FB5D9CA-26C3-41A4-9D04-6FBAED258D6B}" type="pres">
      <dgm:prSet presAssocID="{6485D5F1-796F-4669-A631-86931610FA93}" presName="bgRect" presStyleLbl="bgShp" presStyleIdx="0" presStyleCnt="3"/>
      <dgm:spPr/>
    </dgm:pt>
    <dgm:pt modelId="{2DFB972F-76CD-4604-9133-AC3B63947CAD}" type="pres">
      <dgm:prSet presAssocID="{6485D5F1-796F-4669-A631-86931610FA9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23F8E65A-64E9-4A1E-8AF5-CF4C312261C7}" type="pres">
      <dgm:prSet presAssocID="{6485D5F1-796F-4669-A631-86931610FA93}" presName="spaceRect" presStyleCnt="0"/>
      <dgm:spPr/>
    </dgm:pt>
    <dgm:pt modelId="{967CE0AB-DBD9-4AA9-88D2-7E111FA93577}" type="pres">
      <dgm:prSet presAssocID="{6485D5F1-796F-4669-A631-86931610FA93}" presName="parTx" presStyleLbl="revTx" presStyleIdx="0" presStyleCnt="3">
        <dgm:presLayoutVars>
          <dgm:chMax val="0"/>
          <dgm:chPref val="0"/>
        </dgm:presLayoutVars>
      </dgm:prSet>
      <dgm:spPr/>
    </dgm:pt>
    <dgm:pt modelId="{02661495-E6EC-4B57-B96B-F59DA38B310A}" type="pres">
      <dgm:prSet presAssocID="{968FFAA3-7907-4F7C-8398-01B04ADAE18B}" presName="sibTrans" presStyleCnt="0"/>
      <dgm:spPr/>
    </dgm:pt>
    <dgm:pt modelId="{7279A58B-0B3A-49AF-9813-DB1D660AC978}" type="pres">
      <dgm:prSet presAssocID="{8BFBB721-9BB1-4019-88E0-C6B7CC00FECD}" presName="compNode" presStyleCnt="0"/>
      <dgm:spPr/>
    </dgm:pt>
    <dgm:pt modelId="{48AF5365-2B19-4734-B3D9-6713BCF46329}" type="pres">
      <dgm:prSet presAssocID="{8BFBB721-9BB1-4019-88E0-C6B7CC00FECD}" presName="bgRect" presStyleLbl="bgShp" presStyleIdx="1" presStyleCnt="3"/>
      <dgm:spPr/>
    </dgm:pt>
    <dgm:pt modelId="{04841F0B-49BD-4AAC-9A29-965CE2AD1AD6}" type="pres">
      <dgm:prSet presAssocID="{8BFBB721-9BB1-4019-88E0-C6B7CC00FEC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9B873A9B-235C-46BF-92F5-56EA2F65C4AE}" type="pres">
      <dgm:prSet presAssocID="{8BFBB721-9BB1-4019-88E0-C6B7CC00FECD}" presName="spaceRect" presStyleCnt="0"/>
      <dgm:spPr/>
    </dgm:pt>
    <dgm:pt modelId="{18D7D2DE-ED1E-464E-A009-85240F02C071}" type="pres">
      <dgm:prSet presAssocID="{8BFBB721-9BB1-4019-88E0-C6B7CC00FECD}" presName="parTx" presStyleLbl="revTx" presStyleIdx="1" presStyleCnt="3">
        <dgm:presLayoutVars>
          <dgm:chMax val="0"/>
          <dgm:chPref val="0"/>
        </dgm:presLayoutVars>
      </dgm:prSet>
      <dgm:spPr/>
    </dgm:pt>
    <dgm:pt modelId="{344BE5F9-B001-48ED-8700-6A6D41466EA6}" type="pres">
      <dgm:prSet presAssocID="{26656910-BE10-4409-A86C-254B41660B73}" presName="sibTrans" presStyleCnt="0"/>
      <dgm:spPr/>
    </dgm:pt>
    <dgm:pt modelId="{BAD55906-0317-4F6D-9D47-396144640615}" type="pres">
      <dgm:prSet presAssocID="{31E2D8E4-8E30-4DE3-844D-AFC0A76B427E}" presName="compNode" presStyleCnt="0"/>
      <dgm:spPr/>
    </dgm:pt>
    <dgm:pt modelId="{DDC03529-26CD-4BA6-9DB4-3EA7696B51DD}" type="pres">
      <dgm:prSet presAssocID="{31E2D8E4-8E30-4DE3-844D-AFC0A76B427E}" presName="bgRect" presStyleLbl="bgShp" presStyleIdx="2" presStyleCnt="3"/>
      <dgm:spPr/>
    </dgm:pt>
    <dgm:pt modelId="{918B6E33-85F9-4C88-8773-E87E5B1EC998}" type="pres">
      <dgm:prSet presAssocID="{31E2D8E4-8E30-4DE3-844D-AFC0A76B427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F353E064-3A52-46C2-AB46-A62DCBDE3C1B}" type="pres">
      <dgm:prSet presAssocID="{31E2D8E4-8E30-4DE3-844D-AFC0A76B427E}" presName="spaceRect" presStyleCnt="0"/>
      <dgm:spPr/>
    </dgm:pt>
    <dgm:pt modelId="{7C290334-42BA-4C6E-93CA-861FA2250752}" type="pres">
      <dgm:prSet presAssocID="{31E2D8E4-8E30-4DE3-844D-AFC0A76B427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CBD1E05-0A1B-4570-BFCC-0A0EA40D68C8}" type="presOf" srcId="{31E2D8E4-8E30-4DE3-844D-AFC0A76B427E}" destId="{7C290334-42BA-4C6E-93CA-861FA2250752}" srcOrd="0" destOrd="0" presId="urn:microsoft.com/office/officeart/2018/2/layout/IconVerticalSolidList"/>
    <dgm:cxn modelId="{4D818E43-D0FE-4162-9127-1F4B3770C801}" type="presOf" srcId="{8BFBB721-9BB1-4019-88E0-C6B7CC00FECD}" destId="{18D7D2DE-ED1E-464E-A009-85240F02C071}" srcOrd="0" destOrd="0" presId="urn:microsoft.com/office/officeart/2018/2/layout/IconVerticalSolidList"/>
    <dgm:cxn modelId="{ADEF2A52-B890-4A19-92B2-53F701AA6CC9}" type="presOf" srcId="{BC3883CC-FDD8-422F-9EA8-544E2CF15FA1}" destId="{A9C4424B-E236-4C55-AA7A-086FE8822414}" srcOrd="0" destOrd="0" presId="urn:microsoft.com/office/officeart/2018/2/layout/IconVerticalSolidList"/>
    <dgm:cxn modelId="{9823E253-39BD-487D-B9E4-1A75790E0727}" srcId="{BC3883CC-FDD8-422F-9EA8-544E2CF15FA1}" destId="{31E2D8E4-8E30-4DE3-844D-AFC0A76B427E}" srcOrd="2" destOrd="0" parTransId="{050F0F56-FBFB-42D7-B830-F204ECE0FC64}" sibTransId="{309E1CEA-017E-4078-8698-06BC42F364FC}"/>
    <dgm:cxn modelId="{9F9DFF53-49BC-4F14-A5B4-19584ED06A18}" srcId="{BC3883CC-FDD8-422F-9EA8-544E2CF15FA1}" destId="{8BFBB721-9BB1-4019-88E0-C6B7CC00FECD}" srcOrd="1" destOrd="0" parTransId="{83AAAA10-D303-4FF3-BC94-3F5DF687BA9D}" sibTransId="{26656910-BE10-4409-A86C-254B41660B73}"/>
    <dgm:cxn modelId="{E32B29F4-56A0-4D55-A44D-92DAAE8CC6B1}" srcId="{BC3883CC-FDD8-422F-9EA8-544E2CF15FA1}" destId="{6485D5F1-796F-4669-A631-86931610FA93}" srcOrd="0" destOrd="0" parTransId="{05F3B943-8CD0-475F-8835-001FF6E850C8}" sibTransId="{968FFAA3-7907-4F7C-8398-01B04ADAE18B}"/>
    <dgm:cxn modelId="{7EF963F7-28A2-45CB-8D2E-6B973DC0A3B8}" type="presOf" srcId="{6485D5F1-796F-4669-A631-86931610FA93}" destId="{967CE0AB-DBD9-4AA9-88D2-7E111FA93577}" srcOrd="0" destOrd="0" presId="urn:microsoft.com/office/officeart/2018/2/layout/IconVerticalSolidList"/>
    <dgm:cxn modelId="{59AD5EAE-574E-41D4-8C16-D58863BD269B}" type="presParOf" srcId="{A9C4424B-E236-4C55-AA7A-086FE8822414}" destId="{118A42AD-D562-4753-AEAC-FD4B6FBD6E5E}" srcOrd="0" destOrd="0" presId="urn:microsoft.com/office/officeart/2018/2/layout/IconVerticalSolidList"/>
    <dgm:cxn modelId="{D31CA045-FC00-409E-8EC8-DB87C8F8191D}" type="presParOf" srcId="{118A42AD-D562-4753-AEAC-FD4B6FBD6E5E}" destId="{4FB5D9CA-26C3-41A4-9D04-6FBAED258D6B}" srcOrd="0" destOrd="0" presId="urn:microsoft.com/office/officeart/2018/2/layout/IconVerticalSolidList"/>
    <dgm:cxn modelId="{B72C95C1-8B07-45BB-97A0-150E0A588156}" type="presParOf" srcId="{118A42AD-D562-4753-AEAC-FD4B6FBD6E5E}" destId="{2DFB972F-76CD-4604-9133-AC3B63947CAD}" srcOrd="1" destOrd="0" presId="urn:microsoft.com/office/officeart/2018/2/layout/IconVerticalSolidList"/>
    <dgm:cxn modelId="{6BEE2E2D-DCCC-4805-A3CF-A16D9EBDE27B}" type="presParOf" srcId="{118A42AD-D562-4753-AEAC-FD4B6FBD6E5E}" destId="{23F8E65A-64E9-4A1E-8AF5-CF4C312261C7}" srcOrd="2" destOrd="0" presId="urn:microsoft.com/office/officeart/2018/2/layout/IconVerticalSolidList"/>
    <dgm:cxn modelId="{F1D023D1-2D9A-4116-9D74-6F2879CAC523}" type="presParOf" srcId="{118A42AD-D562-4753-AEAC-FD4B6FBD6E5E}" destId="{967CE0AB-DBD9-4AA9-88D2-7E111FA93577}" srcOrd="3" destOrd="0" presId="urn:microsoft.com/office/officeart/2018/2/layout/IconVerticalSolidList"/>
    <dgm:cxn modelId="{C3546CFF-9478-4DCB-84A8-C89638E29F58}" type="presParOf" srcId="{A9C4424B-E236-4C55-AA7A-086FE8822414}" destId="{02661495-E6EC-4B57-B96B-F59DA38B310A}" srcOrd="1" destOrd="0" presId="urn:microsoft.com/office/officeart/2018/2/layout/IconVerticalSolidList"/>
    <dgm:cxn modelId="{551BD0A4-9AEE-473D-A23E-892D8DA0E448}" type="presParOf" srcId="{A9C4424B-E236-4C55-AA7A-086FE8822414}" destId="{7279A58B-0B3A-49AF-9813-DB1D660AC978}" srcOrd="2" destOrd="0" presId="urn:microsoft.com/office/officeart/2018/2/layout/IconVerticalSolidList"/>
    <dgm:cxn modelId="{5D071AE7-9E0B-4626-8C4E-36510F68CC16}" type="presParOf" srcId="{7279A58B-0B3A-49AF-9813-DB1D660AC978}" destId="{48AF5365-2B19-4734-B3D9-6713BCF46329}" srcOrd="0" destOrd="0" presId="urn:microsoft.com/office/officeart/2018/2/layout/IconVerticalSolidList"/>
    <dgm:cxn modelId="{3DECED56-6BF9-4EB5-AEB8-56BB06F2FA5D}" type="presParOf" srcId="{7279A58B-0B3A-49AF-9813-DB1D660AC978}" destId="{04841F0B-49BD-4AAC-9A29-965CE2AD1AD6}" srcOrd="1" destOrd="0" presId="urn:microsoft.com/office/officeart/2018/2/layout/IconVerticalSolidList"/>
    <dgm:cxn modelId="{69197933-21B5-48F1-86DD-C36552AD1228}" type="presParOf" srcId="{7279A58B-0B3A-49AF-9813-DB1D660AC978}" destId="{9B873A9B-235C-46BF-92F5-56EA2F65C4AE}" srcOrd="2" destOrd="0" presId="urn:microsoft.com/office/officeart/2018/2/layout/IconVerticalSolidList"/>
    <dgm:cxn modelId="{A6692F61-D7E2-4059-9887-5E4218D9A958}" type="presParOf" srcId="{7279A58B-0B3A-49AF-9813-DB1D660AC978}" destId="{18D7D2DE-ED1E-464E-A009-85240F02C071}" srcOrd="3" destOrd="0" presId="urn:microsoft.com/office/officeart/2018/2/layout/IconVerticalSolidList"/>
    <dgm:cxn modelId="{54DC4887-29EE-4C40-8D99-A477B71C71A2}" type="presParOf" srcId="{A9C4424B-E236-4C55-AA7A-086FE8822414}" destId="{344BE5F9-B001-48ED-8700-6A6D41466EA6}" srcOrd="3" destOrd="0" presId="urn:microsoft.com/office/officeart/2018/2/layout/IconVerticalSolidList"/>
    <dgm:cxn modelId="{DE679E4F-A232-4A37-B3C6-3383EB4B0F03}" type="presParOf" srcId="{A9C4424B-E236-4C55-AA7A-086FE8822414}" destId="{BAD55906-0317-4F6D-9D47-396144640615}" srcOrd="4" destOrd="0" presId="urn:microsoft.com/office/officeart/2018/2/layout/IconVerticalSolidList"/>
    <dgm:cxn modelId="{35EA7331-1402-46B8-A3F0-44A605BF3006}" type="presParOf" srcId="{BAD55906-0317-4F6D-9D47-396144640615}" destId="{DDC03529-26CD-4BA6-9DB4-3EA7696B51DD}" srcOrd="0" destOrd="0" presId="urn:microsoft.com/office/officeart/2018/2/layout/IconVerticalSolidList"/>
    <dgm:cxn modelId="{44C40C3E-31E4-4207-91F3-D03257E0FC42}" type="presParOf" srcId="{BAD55906-0317-4F6D-9D47-396144640615}" destId="{918B6E33-85F9-4C88-8773-E87E5B1EC998}" srcOrd="1" destOrd="0" presId="urn:microsoft.com/office/officeart/2018/2/layout/IconVerticalSolidList"/>
    <dgm:cxn modelId="{68B0205E-0334-4F32-B2AE-E521C6DDD5B4}" type="presParOf" srcId="{BAD55906-0317-4F6D-9D47-396144640615}" destId="{F353E064-3A52-46C2-AB46-A62DCBDE3C1B}" srcOrd="2" destOrd="0" presId="urn:microsoft.com/office/officeart/2018/2/layout/IconVerticalSolidList"/>
    <dgm:cxn modelId="{5BF97BA1-C3C1-4D9F-9E08-6493CE8A5BE2}" type="presParOf" srcId="{BAD55906-0317-4F6D-9D47-396144640615}" destId="{7C290334-42BA-4C6E-93CA-861FA225075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CDE7920-A0BE-4F8A-8573-9ADE1DE9730F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B7FF2CF-B229-455B-84C0-B9FEC65449DD}">
      <dgm:prSet/>
      <dgm:spPr/>
      <dgm:t>
        <a:bodyPr/>
        <a:lstStyle/>
        <a:p>
          <a:pPr rtl="0"/>
          <a:r>
            <a:rPr lang="en-US" dirty="0" err="1"/>
            <a:t>Prioritise</a:t>
          </a:r>
          <a:r>
            <a:rPr lang="en-US" dirty="0"/>
            <a:t> SSL validation and </a:t>
          </a:r>
          <a:r>
            <a:rPr lang="en-US" dirty="0">
              <a:latin typeface="Neue Haas Grotesk Text Pro"/>
            </a:rPr>
            <a:t>anchor link</a:t>
          </a:r>
          <a:r>
            <a:rPr lang="en-US" dirty="0"/>
            <a:t> analysis in automated detection.</a:t>
          </a:r>
        </a:p>
      </dgm:t>
    </dgm:pt>
    <dgm:pt modelId="{B06F94D2-453E-486B-AE87-3997E5269551}" type="parTrans" cxnId="{06D236CE-A436-480A-B6D9-8CE0C22770DD}">
      <dgm:prSet/>
      <dgm:spPr/>
      <dgm:t>
        <a:bodyPr/>
        <a:lstStyle/>
        <a:p>
          <a:endParaRPr lang="en-US"/>
        </a:p>
      </dgm:t>
    </dgm:pt>
    <dgm:pt modelId="{F4250CA8-19EE-46EF-85EE-E065E6D6B1A3}" type="sibTrans" cxnId="{06D236CE-A436-480A-B6D9-8CE0C22770DD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2D387008-9459-415C-BE71-DC4E8D736785}">
      <dgm:prSet/>
      <dgm:spPr/>
      <dgm:t>
        <a:bodyPr/>
        <a:lstStyle/>
        <a:p>
          <a:r>
            <a:rPr lang="en-US" dirty="0"/>
            <a:t>Use ensemble Machine Learning models (random forest) for best results in real-world phishing detection.</a:t>
          </a:r>
        </a:p>
      </dgm:t>
    </dgm:pt>
    <dgm:pt modelId="{0FED5084-9019-4C2D-A760-846503A0FE25}" type="parTrans" cxnId="{AE40155A-B504-40CA-B399-F402E082DB84}">
      <dgm:prSet/>
      <dgm:spPr/>
      <dgm:t>
        <a:bodyPr/>
        <a:lstStyle/>
        <a:p>
          <a:endParaRPr lang="en-US"/>
        </a:p>
      </dgm:t>
    </dgm:pt>
    <dgm:pt modelId="{D9029029-B2D4-4B66-A479-E6365407CF32}" type="sibTrans" cxnId="{AE40155A-B504-40CA-B399-F402E082DB84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CFCE49AF-1C6C-44AD-86C8-AB0943FA48A6}">
      <dgm:prSet/>
      <dgm:spPr/>
      <dgm:t>
        <a:bodyPr/>
        <a:lstStyle/>
        <a:p>
          <a:r>
            <a:rPr lang="en-US" dirty="0"/>
            <a:t>Implement regular monitoring of top indicators to strengthen web security.</a:t>
          </a:r>
        </a:p>
      </dgm:t>
    </dgm:pt>
    <dgm:pt modelId="{6FB1228D-B32B-4C98-A3D6-42322B68DAAA}" type="parTrans" cxnId="{DC01681E-C5F8-435E-85D8-6FA40D3863B5}">
      <dgm:prSet/>
      <dgm:spPr/>
      <dgm:t>
        <a:bodyPr/>
        <a:lstStyle/>
        <a:p>
          <a:endParaRPr lang="en-US"/>
        </a:p>
      </dgm:t>
    </dgm:pt>
    <dgm:pt modelId="{822B2C4B-0278-4D18-9D7D-832ABA3F0C71}" type="sibTrans" cxnId="{DC01681E-C5F8-435E-85D8-6FA40D3863B5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21EC660B-1BCE-4153-B56A-BDD0086D20B9}" type="pres">
      <dgm:prSet presAssocID="{8CDE7920-A0BE-4F8A-8573-9ADE1DE9730F}" presName="Name0" presStyleCnt="0">
        <dgm:presLayoutVars>
          <dgm:animLvl val="lvl"/>
          <dgm:resizeHandles val="exact"/>
        </dgm:presLayoutVars>
      </dgm:prSet>
      <dgm:spPr/>
    </dgm:pt>
    <dgm:pt modelId="{89E1358A-AC43-446B-A8DF-67EE3E0E6FD7}" type="pres">
      <dgm:prSet presAssocID="{2B7FF2CF-B229-455B-84C0-B9FEC65449DD}" presName="compositeNode" presStyleCnt="0">
        <dgm:presLayoutVars>
          <dgm:bulletEnabled val="1"/>
        </dgm:presLayoutVars>
      </dgm:prSet>
      <dgm:spPr/>
    </dgm:pt>
    <dgm:pt modelId="{043E21AA-8CDF-4C66-B380-BEF7CBE262A2}" type="pres">
      <dgm:prSet presAssocID="{2B7FF2CF-B229-455B-84C0-B9FEC65449DD}" presName="bgRect" presStyleLbl="alignNode1" presStyleIdx="0" presStyleCnt="3"/>
      <dgm:spPr/>
    </dgm:pt>
    <dgm:pt modelId="{E20686A7-4AF1-4CDF-853E-EDEE594A28F1}" type="pres">
      <dgm:prSet presAssocID="{F4250CA8-19EE-46EF-85EE-E065E6D6B1A3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18AB0085-F552-43F7-85F4-0317F42D28F7}" type="pres">
      <dgm:prSet presAssocID="{2B7FF2CF-B229-455B-84C0-B9FEC65449DD}" presName="nodeRect" presStyleLbl="alignNode1" presStyleIdx="0" presStyleCnt="3">
        <dgm:presLayoutVars>
          <dgm:bulletEnabled val="1"/>
        </dgm:presLayoutVars>
      </dgm:prSet>
      <dgm:spPr/>
    </dgm:pt>
    <dgm:pt modelId="{A963ADD1-8E6E-44AF-A36B-9CE38EBAC3DE}" type="pres">
      <dgm:prSet presAssocID="{F4250CA8-19EE-46EF-85EE-E065E6D6B1A3}" presName="sibTrans" presStyleCnt="0"/>
      <dgm:spPr/>
    </dgm:pt>
    <dgm:pt modelId="{C0E5FDC3-18DB-47DE-9170-60380FB2ED87}" type="pres">
      <dgm:prSet presAssocID="{2D387008-9459-415C-BE71-DC4E8D736785}" presName="compositeNode" presStyleCnt="0">
        <dgm:presLayoutVars>
          <dgm:bulletEnabled val="1"/>
        </dgm:presLayoutVars>
      </dgm:prSet>
      <dgm:spPr/>
    </dgm:pt>
    <dgm:pt modelId="{612151C8-E893-4C48-B2F8-1A1513836437}" type="pres">
      <dgm:prSet presAssocID="{2D387008-9459-415C-BE71-DC4E8D736785}" presName="bgRect" presStyleLbl="alignNode1" presStyleIdx="1" presStyleCnt="3"/>
      <dgm:spPr/>
    </dgm:pt>
    <dgm:pt modelId="{38D8AFAD-461F-49BB-9C43-203E795D5FBB}" type="pres">
      <dgm:prSet presAssocID="{D9029029-B2D4-4B66-A479-E6365407CF32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04CF6917-F4EF-49CD-9BB4-67D5F14088A5}" type="pres">
      <dgm:prSet presAssocID="{2D387008-9459-415C-BE71-DC4E8D736785}" presName="nodeRect" presStyleLbl="alignNode1" presStyleIdx="1" presStyleCnt="3">
        <dgm:presLayoutVars>
          <dgm:bulletEnabled val="1"/>
        </dgm:presLayoutVars>
      </dgm:prSet>
      <dgm:spPr/>
    </dgm:pt>
    <dgm:pt modelId="{658C8EAF-A28B-4B69-A5FF-07B7BA496F14}" type="pres">
      <dgm:prSet presAssocID="{D9029029-B2D4-4B66-A479-E6365407CF32}" presName="sibTrans" presStyleCnt="0"/>
      <dgm:spPr/>
    </dgm:pt>
    <dgm:pt modelId="{25BBCB50-D61E-4EED-873E-AEC0B604BB11}" type="pres">
      <dgm:prSet presAssocID="{CFCE49AF-1C6C-44AD-86C8-AB0943FA48A6}" presName="compositeNode" presStyleCnt="0">
        <dgm:presLayoutVars>
          <dgm:bulletEnabled val="1"/>
        </dgm:presLayoutVars>
      </dgm:prSet>
      <dgm:spPr/>
    </dgm:pt>
    <dgm:pt modelId="{C5D1913B-1D8B-42F3-9DEB-BF3E61ACAE7B}" type="pres">
      <dgm:prSet presAssocID="{CFCE49AF-1C6C-44AD-86C8-AB0943FA48A6}" presName="bgRect" presStyleLbl="alignNode1" presStyleIdx="2" presStyleCnt="3"/>
      <dgm:spPr/>
    </dgm:pt>
    <dgm:pt modelId="{941893F2-9EEC-477A-AF4E-32D4EB5FC8C1}" type="pres">
      <dgm:prSet presAssocID="{822B2C4B-0278-4D18-9D7D-832ABA3F0C71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36D800D7-8DE3-4138-A992-BD322B649F4B}" type="pres">
      <dgm:prSet presAssocID="{CFCE49AF-1C6C-44AD-86C8-AB0943FA48A6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76C7DF07-C3B5-4423-AC8A-517099BBF0A0}" type="presOf" srcId="{8CDE7920-A0BE-4F8A-8573-9ADE1DE9730F}" destId="{21EC660B-1BCE-4153-B56A-BDD0086D20B9}" srcOrd="0" destOrd="0" presId="urn:microsoft.com/office/officeart/2016/7/layout/LinearBlockProcessNumbered"/>
    <dgm:cxn modelId="{D3719911-5478-4E3C-AE45-9B3EF1676433}" type="presOf" srcId="{2D387008-9459-415C-BE71-DC4E8D736785}" destId="{612151C8-E893-4C48-B2F8-1A1513836437}" srcOrd="0" destOrd="0" presId="urn:microsoft.com/office/officeart/2016/7/layout/LinearBlockProcessNumbered"/>
    <dgm:cxn modelId="{DC01681E-C5F8-435E-85D8-6FA40D3863B5}" srcId="{8CDE7920-A0BE-4F8A-8573-9ADE1DE9730F}" destId="{CFCE49AF-1C6C-44AD-86C8-AB0943FA48A6}" srcOrd="2" destOrd="0" parTransId="{6FB1228D-B32B-4C98-A3D6-42322B68DAAA}" sibTransId="{822B2C4B-0278-4D18-9D7D-832ABA3F0C71}"/>
    <dgm:cxn modelId="{66B4553D-AF53-4D74-9F2C-8E395428EF52}" type="presOf" srcId="{2D387008-9459-415C-BE71-DC4E8D736785}" destId="{04CF6917-F4EF-49CD-9BB4-67D5F14088A5}" srcOrd="1" destOrd="0" presId="urn:microsoft.com/office/officeart/2016/7/layout/LinearBlockProcessNumbered"/>
    <dgm:cxn modelId="{217A1B5C-D8D3-4F7D-97CC-2D19C00FD011}" type="presOf" srcId="{CFCE49AF-1C6C-44AD-86C8-AB0943FA48A6}" destId="{C5D1913B-1D8B-42F3-9DEB-BF3E61ACAE7B}" srcOrd="0" destOrd="0" presId="urn:microsoft.com/office/officeart/2016/7/layout/LinearBlockProcessNumbered"/>
    <dgm:cxn modelId="{00CB5E64-29DA-49F5-8840-951EAE9F6622}" type="presOf" srcId="{2B7FF2CF-B229-455B-84C0-B9FEC65449DD}" destId="{043E21AA-8CDF-4C66-B380-BEF7CBE262A2}" srcOrd="0" destOrd="0" presId="urn:microsoft.com/office/officeart/2016/7/layout/LinearBlockProcessNumbered"/>
    <dgm:cxn modelId="{AE40155A-B504-40CA-B399-F402E082DB84}" srcId="{8CDE7920-A0BE-4F8A-8573-9ADE1DE9730F}" destId="{2D387008-9459-415C-BE71-DC4E8D736785}" srcOrd="1" destOrd="0" parTransId="{0FED5084-9019-4C2D-A760-846503A0FE25}" sibTransId="{D9029029-B2D4-4B66-A479-E6365407CF32}"/>
    <dgm:cxn modelId="{86B49C80-6639-47B0-9E7C-FA970AD9BEDD}" type="presOf" srcId="{2B7FF2CF-B229-455B-84C0-B9FEC65449DD}" destId="{18AB0085-F552-43F7-85F4-0317F42D28F7}" srcOrd="1" destOrd="0" presId="urn:microsoft.com/office/officeart/2016/7/layout/LinearBlockProcessNumbered"/>
    <dgm:cxn modelId="{A6D5C591-FD57-412A-8301-5A196DDB888E}" type="presOf" srcId="{F4250CA8-19EE-46EF-85EE-E065E6D6B1A3}" destId="{E20686A7-4AF1-4CDF-853E-EDEE594A28F1}" srcOrd="0" destOrd="0" presId="urn:microsoft.com/office/officeart/2016/7/layout/LinearBlockProcessNumbered"/>
    <dgm:cxn modelId="{C975A393-598E-4BC3-9BE4-7E75CDCBF3B8}" type="presOf" srcId="{D9029029-B2D4-4B66-A479-E6365407CF32}" destId="{38D8AFAD-461F-49BB-9C43-203E795D5FBB}" srcOrd="0" destOrd="0" presId="urn:microsoft.com/office/officeart/2016/7/layout/LinearBlockProcessNumbered"/>
    <dgm:cxn modelId="{B9D685A3-F31A-4CFA-9E13-8FACC37A96EF}" type="presOf" srcId="{CFCE49AF-1C6C-44AD-86C8-AB0943FA48A6}" destId="{36D800D7-8DE3-4138-A992-BD322B649F4B}" srcOrd="1" destOrd="0" presId="urn:microsoft.com/office/officeart/2016/7/layout/LinearBlockProcessNumbered"/>
    <dgm:cxn modelId="{EE0EA0AE-3317-46E3-9B5A-2C139016AA01}" type="presOf" srcId="{822B2C4B-0278-4D18-9D7D-832ABA3F0C71}" destId="{941893F2-9EEC-477A-AF4E-32D4EB5FC8C1}" srcOrd="0" destOrd="0" presId="urn:microsoft.com/office/officeart/2016/7/layout/LinearBlockProcessNumbered"/>
    <dgm:cxn modelId="{06D236CE-A436-480A-B6D9-8CE0C22770DD}" srcId="{8CDE7920-A0BE-4F8A-8573-9ADE1DE9730F}" destId="{2B7FF2CF-B229-455B-84C0-B9FEC65449DD}" srcOrd="0" destOrd="0" parTransId="{B06F94D2-453E-486B-AE87-3997E5269551}" sibTransId="{F4250CA8-19EE-46EF-85EE-E065E6D6B1A3}"/>
    <dgm:cxn modelId="{0B4A6622-35B4-45F2-B29F-22904448027D}" type="presParOf" srcId="{21EC660B-1BCE-4153-B56A-BDD0086D20B9}" destId="{89E1358A-AC43-446B-A8DF-67EE3E0E6FD7}" srcOrd="0" destOrd="0" presId="urn:microsoft.com/office/officeart/2016/7/layout/LinearBlockProcessNumbered"/>
    <dgm:cxn modelId="{43268DA3-6713-4A8A-8E9B-F9EE89756D36}" type="presParOf" srcId="{89E1358A-AC43-446B-A8DF-67EE3E0E6FD7}" destId="{043E21AA-8CDF-4C66-B380-BEF7CBE262A2}" srcOrd="0" destOrd="0" presId="urn:microsoft.com/office/officeart/2016/7/layout/LinearBlockProcessNumbered"/>
    <dgm:cxn modelId="{E84830FC-C6F0-4ECB-A888-87F9DA170389}" type="presParOf" srcId="{89E1358A-AC43-446B-A8DF-67EE3E0E6FD7}" destId="{E20686A7-4AF1-4CDF-853E-EDEE594A28F1}" srcOrd="1" destOrd="0" presId="urn:microsoft.com/office/officeart/2016/7/layout/LinearBlockProcessNumbered"/>
    <dgm:cxn modelId="{6FC7F7E9-34A7-40ED-B27C-8C5C8733A4B0}" type="presParOf" srcId="{89E1358A-AC43-446B-A8DF-67EE3E0E6FD7}" destId="{18AB0085-F552-43F7-85F4-0317F42D28F7}" srcOrd="2" destOrd="0" presId="urn:microsoft.com/office/officeart/2016/7/layout/LinearBlockProcessNumbered"/>
    <dgm:cxn modelId="{9AE06F93-A74F-4F89-BC5E-08D929E31066}" type="presParOf" srcId="{21EC660B-1BCE-4153-B56A-BDD0086D20B9}" destId="{A963ADD1-8E6E-44AF-A36B-9CE38EBAC3DE}" srcOrd="1" destOrd="0" presId="urn:microsoft.com/office/officeart/2016/7/layout/LinearBlockProcessNumbered"/>
    <dgm:cxn modelId="{40AE3CA0-981C-44CA-BD62-931FC819C303}" type="presParOf" srcId="{21EC660B-1BCE-4153-B56A-BDD0086D20B9}" destId="{C0E5FDC3-18DB-47DE-9170-60380FB2ED87}" srcOrd="2" destOrd="0" presId="urn:microsoft.com/office/officeart/2016/7/layout/LinearBlockProcessNumbered"/>
    <dgm:cxn modelId="{F0367A01-B519-4DE4-A5B7-25FB21D94D1A}" type="presParOf" srcId="{C0E5FDC3-18DB-47DE-9170-60380FB2ED87}" destId="{612151C8-E893-4C48-B2F8-1A1513836437}" srcOrd="0" destOrd="0" presId="urn:microsoft.com/office/officeart/2016/7/layout/LinearBlockProcessNumbered"/>
    <dgm:cxn modelId="{F61B7965-706C-49C7-92F6-5A5C43F4F3B6}" type="presParOf" srcId="{C0E5FDC3-18DB-47DE-9170-60380FB2ED87}" destId="{38D8AFAD-461F-49BB-9C43-203E795D5FBB}" srcOrd="1" destOrd="0" presId="urn:microsoft.com/office/officeart/2016/7/layout/LinearBlockProcessNumbered"/>
    <dgm:cxn modelId="{462CC95B-E295-4473-89B7-3EE39CF78474}" type="presParOf" srcId="{C0E5FDC3-18DB-47DE-9170-60380FB2ED87}" destId="{04CF6917-F4EF-49CD-9BB4-67D5F14088A5}" srcOrd="2" destOrd="0" presId="urn:microsoft.com/office/officeart/2016/7/layout/LinearBlockProcessNumbered"/>
    <dgm:cxn modelId="{5D67B345-BB49-44C8-ABD8-1C5CCAFBCE68}" type="presParOf" srcId="{21EC660B-1BCE-4153-B56A-BDD0086D20B9}" destId="{658C8EAF-A28B-4B69-A5FF-07B7BA496F14}" srcOrd="3" destOrd="0" presId="urn:microsoft.com/office/officeart/2016/7/layout/LinearBlockProcessNumbered"/>
    <dgm:cxn modelId="{5F294DEC-C97D-462F-AE11-FDCAF205D497}" type="presParOf" srcId="{21EC660B-1BCE-4153-B56A-BDD0086D20B9}" destId="{25BBCB50-D61E-4EED-873E-AEC0B604BB11}" srcOrd="4" destOrd="0" presId="urn:microsoft.com/office/officeart/2016/7/layout/LinearBlockProcessNumbered"/>
    <dgm:cxn modelId="{E92A1175-D52F-4534-9D0D-74E511B1CA3E}" type="presParOf" srcId="{25BBCB50-D61E-4EED-873E-AEC0B604BB11}" destId="{C5D1913B-1D8B-42F3-9DEB-BF3E61ACAE7B}" srcOrd="0" destOrd="0" presId="urn:microsoft.com/office/officeart/2016/7/layout/LinearBlockProcessNumbered"/>
    <dgm:cxn modelId="{E9891450-0840-46BA-8674-58057B828808}" type="presParOf" srcId="{25BBCB50-D61E-4EED-873E-AEC0B604BB11}" destId="{941893F2-9EEC-477A-AF4E-32D4EB5FC8C1}" srcOrd="1" destOrd="0" presId="urn:microsoft.com/office/officeart/2016/7/layout/LinearBlockProcessNumbered"/>
    <dgm:cxn modelId="{1B7B8053-AEE4-4F35-AEE8-238827AC8550}" type="presParOf" srcId="{25BBCB50-D61E-4EED-873E-AEC0B604BB11}" destId="{36D800D7-8DE3-4138-A992-BD322B649F4B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142DA61-D0ED-42D0-AFAA-05260A69C1E7}" type="doc">
      <dgm:prSet loTypeId="urn:microsoft.com/office/officeart/2005/8/layout/hierarchy1" loCatId="hierarchy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86627B57-C411-43C3-9EB9-E20CC1747760}">
      <dgm:prSet/>
      <dgm:spPr/>
      <dgm:t>
        <a:bodyPr/>
        <a:lstStyle/>
        <a:p>
          <a:pPr rtl="0"/>
          <a:r>
            <a:rPr lang="en-US" dirty="0"/>
            <a:t>Phishing sites are defined by invalid SSL, suspicious anchor links, and long URLs</a:t>
          </a:r>
        </a:p>
      </dgm:t>
    </dgm:pt>
    <dgm:pt modelId="{813BDCC2-71B6-4FF7-9ECE-F840B0EC65B9}" type="parTrans" cxnId="{FA6116DA-EC8D-4A12-874C-68B7696F6E74}">
      <dgm:prSet/>
      <dgm:spPr/>
      <dgm:t>
        <a:bodyPr/>
        <a:lstStyle/>
        <a:p>
          <a:endParaRPr lang="en-US"/>
        </a:p>
      </dgm:t>
    </dgm:pt>
    <dgm:pt modelId="{C4424CA2-E226-410C-870F-3A4279A393CB}" type="sibTrans" cxnId="{FA6116DA-EC8D-4A12-874C-68B7696F6E74}">
      <dgm:prSet phldrT="01"/>
      <dgm:spPr/>
      <dgm:t>
        <a:bodyPr/>
        <a:lstStyle/>
        <a:p>
          <a:endParaRPr lang="en-US"/>
        </a:p>
      </dgm:t>
    </dgm:pt>
    <dgm:pt modelId="{1BFFDC79-C372-4CD8-B785-3494C5665CD3}">
      <dgm:prSet/>
      <dgm:spPr/>
      <dgm:t>
        <a:bodyPr/>
        <a:lstStyle/>
        <a:p>
          <a:pPr rtl="0"/>
          <a:r>
            <a:rPr lang="en-US" b="1" dirty="0" err="1">
              <a:latin typeface="Neue Haas Grotesk Text Pro"/>
            </a:rPr>
            <a:t>SSLfinal_State</a:t>
          </a:r>
          <a:r>
            <a:rPr lang="en-US" dirty="0"/>
            <a:t> and </a:t>
          </a:r>
          <a:r>
            <a:rPr lang="en-US" b="1" dirty="0" err="1">
              <a:latin typeface="Neue Haas Grotesk Text Pro"/>
            </a:rPr>
            <a:t>URL_of_Anchor</a:t>
          </a:r>
          <a:r>
            <a:rPr lang="en-US" dirty="0"/>
            <a:t> were consistently the strongest indicators across all analyses.</a:t>
          </a:r>
        </a:p>
      </dgm:t>
    </dgm:pt>
    <dgm:pt modelId="{45214ADC-9118-4751-A7DE-F2FD7F9166C5}" type="parTrans" cxnId="{B3FDEA7F-BF8A-4737-BE10-002A792C6405}">
      <dgm:prSet/>
      <dgm:spPr/>
      <dgm:t>
        <a:bodyPr/>
        <a:lstStyle/>
        <a:p>
          <a:endParaRPr lang="en-US"/>
        </a:p>
      </dgm:t>
    </dgm:pt>
    <dgm:pt modelId="{FA76278A-AEE5-4CFE-8F06-B8036180A061}" type="sibTrans" cxnId="{B3FDEA7F-BF8A-4737-BE10-002A792C6405}">
      <dgm:prSet phldrT="02"/>
      <dgm:spPr/>
      <dgm:t>
        <a:bodyPr/>
        <a:lstStyle/>
        <a:p>
          <a:endParaRPr lang="en-US"/>
        </a:p>
      </dgm:t>
    </dgm:pt>
    <dgm:pt modelId="{EDDB174B-4EC5-4F26-A0DB-23BA6D6717F9}">
      <dgm:prSet/>
      <dgm:spPr/>
      <dgm:t>
        <a:bodyPr/>
        <a:lstStyle/>
        <a:p>
          <a:pPr rtl="0"/>
          <a:r>
            <a:rPr lang="en-US" b="1" dirty="0">
              <a:latin typeface="Neue Haas Grotesk Text Pro"/>
            </a:rPr>
            <a:t>Random</a:t>
          </a:r>
          <a:r>
            <a:rPr lang="en-US" b="1" dirty="0"/>
            <a:t> Forest</a:t>
          </a:r>
          <a:r>
            <a:rPr lang="en-US" dirty="0"/>
            <a:t> model can automate detection with </a:t>
          </a:r>
          <a:r>
            <a:rPr lang="en-US" b="1" dirty="0"/>
            <a:t>96.7% accuracy</a:t>
          </a:r>
          <a:r>
            <a:rPr lang="en-US" dirty="0"/>
            <a:t>, providing a powerful tool for mitigating phishing attacks.</a:t>
          </a:r>
        </a:p>
      </dgm:t>
    </dgm:pt>
    <dgm:pt modelId="{CFA69A48-E039-48D5-B6C3-AC124536AB3F}" type="parTrans" cxnId="{7C5B5B5D-98B7-496F-A578-B2C96648BE55}">
      <dgm:prSet/>
      <dgm:spPr/>
      <dgm:t>
        <a:bodyPr/>
        <a:lstStyle/>
        <a:p>
          <a:endParaRPr lang="en-US"/>
        </a:p>
      </dgm:t>
    </dgm:pt>
    <dgm:pt modelId="{25CA65F5-35EF-42F7-B91B-FD91B16A6CD3}" type="sibTrans" cxnId="{7C5B5B5D-98B7-496F-A578-B2C96648BE55}">
      <dgm:prSet phldrT="03"/>
      <dgm:spPr/>
      <dgm:t>
        <a:bodyPr/>
        <a:lstStyle/>
        <a:p>
          <a:endParaRPr lang="en-US"/>
        </a:p>
      </dgm:t>
    </dgm:pt>
    <dgm:pt modelId="{AF97C941-A2E9-4EEE-BA25-427CAC6B4FD2}" type="pres">
      <dgm:prSet presAssocID="{4142DA61-D0ED-42D0-AFAA-05260A69C1E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EB5EF36-FB22-44DC-A3EB-FDBD74209144}" type="pres">
      <dgm:prSet presAssocID="{86627B57-C411-43C3-9EB9-E20CC1747760}" presName="hierRoot1" presStyleCnt="0"/>
      <dgm:spPr/>
    </dgm:pt>
    <dgm:pt modelId="{83CD1559-6CBC-4C1C-8BE7-5C8322DCC5B6}" type="pres">
      <dgm:prSet presAssocID="{86627B57-C411-43C3-9EB9-E20CC1747760}" presName="composite" presStyleCnt="0"/>
      <dgm:spPr/>
    </dgm:pt>
    <dgm:pt modelId="{6A013A58-DD27-4CE6-AA88-D2D9EDE9D03A}" type="pres">
      <dgm:prSet presAssocID="{86627B57-C411-43C3-9EB9-E20CC1747760}" presName="background" presStyleLbl="node0" presStyleIdx="0" presStyleCnt="3"/>
      <dgm:spPr/>
    </dgm:pt>
    <dgm:pt modelId="{5AC323CA-5820-40BF-93E2-783F66947929}" type="pres">
      <dgm:prSet presAssocID="{86627B57-C411-43C3-9EB9-E20CC1747760}" presName="text" presStyleLbl="fgAcc0" presStyleIdx="0" presStyleCnt="3">
        <dgm:presLayoutVars>
          <dgm:chPref val="3"/>
        </dgm:presLayoutVars>
      </dgm:prSet>
      <dgm:spPr/>
    </dgm:pt>
    <dgm:pt modelId="{F89498FA-71E7-4FB3-9583-056004E4E434}" type="pres">
      <dgm:prSet presAssocID="{86627B57-C411-43C3-9EB9-E20CC1747760}" presName="hierChild2" presStyleCnt="0"/>
      <dgm:spPr/>
    </dgm:pt>
    <dgm:pt modelId="{ECAA9F1C-2486-4BA8-ACE9-5A8A39E72FD5}" type="pres">
      <dgm:prSet presAssocID="{1BFFDC79-C372-4CD8-B785-3494C5665CD3}" presName="hierRoot1" presStyleCnt="0"/>
      <dgm:spPr/>
    </dgm:pt>
    <dgm:pt modelId="{26BAA4BA-864F-4CF1-BBFF-2DD4F1F071F4}" type="pres">
      <dgm:prSet presAssocID="{1BFFDC79-C372-4CD8-B785-3494C5665CD3}" presName="composite" presStyleCnt="0"/>
      <dgm:spPr/>
    </dgm:pt>
    <dgm:pt modelId="{F32CC4C6-BFBA-426B-B87C-CE7D4CCF4622}" type="pres">
      <dgm:prSet presAssocID="{1BFFDC79-C372-4CD8-B785-3494C5665CD3}" presName="background" presStyleLbl="node0" presStyleIdx="1" presStyleCnt="3"/>
      <dgm:spPr/>
    </dgm:pt>
    <dgm:pt modelId="{11183E68-8575-4DFF-A2B2-7DD6430D9299}" type="pres">
      <dgm:prSet presAssocID="{1BFFDC79-C372-4CD8-B785-3494C5665CD3}" presName="text" presStyleLbl="fgAcc0" presStyleIdx="1" presStyleCnt="3">
        <dgm:presLayoutVars>
          <dgm:chPref val="3"/>
        </dgm:presLayoutVars>
      </dgm:prSet>
      <dgm:spPr/>
    </dgm:pt>
    <dgm:pt modelId="{78DD5AE9-DE9E-4567-8498-0EB8E283FC31}" type="pres">
      <dgm:prSet presAssocID="{1BFFDC79-C372-4CD8-B785-3494C5665CD3}" presName="hierChild2" presStyleCnt="0"/>
      <dgm:spPr/>
    </dgm:pt>
    <dgm:pt modelId="{999611FE-544D-4525-A52B-0716794919AA}" type="pres">
      <dgm:prSet presAssocID="{EDDB174B-4EC5-4F26-A0DB-23BA6D6717F9}" presName="hierRoot1" presStyleCnt="0"/>
      <dgm:spPr/>
    </dgm:pt>
    <dgm:pt modelId="{FC30A112-5AB6-43B2-93F1-F44394F2B4F3}" type="pres">
      <dgm:prSet presAssocID="{EDDB174B-4EC5-4F26-A0DB-23BA6D6717F9}" presName="composite" presStyleCnt="0"/>
      <dgm:spPr/>
    </dgm:pt>
    <dgm:pt modelId="{25490FB1-CBAF-4F30-A756-431DA441A678}" type="pres">
      <dgm:prSet presAssocID="{EDDB174B-4EC5-4F26-A0DB-23BA6D6717F9}" presName="background" presStyleLbl="node0" presStyleIdx="2" presStyleCnt="3"/>
      <dgm:spPr/>
    </dgm:pt>
    <dgm:pt modelId="{52342168-55D9-4B1D-A3F5-B022576FA671}" type="pres">
      <dgm:prSet presAssocID="{EDDB174B-4EC5-4F26-A0DB-23BA6D6717F9}" presName="text" presStyleLbl="fgAcc0" presStyleIdx="2" presStyleCnt="3">
        <dgm:presLayoutVars>
          <dgm:chPref val="3"/>
        </dgm:presLayoutVars>
      </dgm:prSet>
      <dgm:spPr/>
    </dgm:pt>
    <dgm:pt modelId="{0330BCF4-AD80-4D80-A635-440FB54A81FA}" type="pres">
      <dgm:prSet presAssocID="{EDDB174B-4EC5-4F26-A0DB-23BA6D6717F9}" presName="hierChild2" presStyleCnt="0"/>
      <dgm:spPr/>
    </dgm:pt>
  </dgm:ptLst>
  <dgm:cxnLst>
    <dgm:cxn modelId="{42E7E820-CD9D-4716-8E8B-2E2E36BF2846}" type="presOf" srcId="{86627B57-C411-43C3-9EB9-E20CC1747760}" destId="{5AC323CA-5820-40BF-93E2-783F66947929}" srcOrd="0" destOrd="0" presId="urn:microsoft.com/office/officeart/2005/8/layout/hierarchy1"/>
    <dgm:cxn modelId="{7C5B5B5D-98B7-496F-A578-B2C96648BE55}" srcId="{4142DA61-D0ED-42D0-AFAA-05260A69C1E7}" destId="{EDDB174B-4EC5-4F26-A0DB-23BA6D6717F9}" srcOrd="2" destOrd="0" parTransId="{CFA69A48-E039-48D5-B6C3-AC124536AB3F}" sibTransId="{25CA65F5-35EF-42F7-B91B-FD91B16A6CD3}"/>
    <dgm:cxn modelId="{B3FDEA7F-BF8A-4737-BE10-002A792C6405}" srcId="{4142DA61-D0ED-42D0-AFAA-05260A69C1E7}" destId="{1BFFDC79-C372-4CD8-B785-3494C5665CD3}" srcOrd="1" destOrd="0" parTransId="{45214ADC-9118-4751-A7DE-F2FD7F9166C5}" sibTransId="{FA76278A-AEE5-4CFE-8F06-B8036180A061}"/>
    <dgm:cxn modelId="{8AD7F797-AE23-425D-92AB-A08DAD37FE67}" type="presOf" srcId="{1BFFDC79-C372-4CD8-B785-3494C5665CD3}" destId="{11183E68-8575-4DFF-A2B2-7DD6430D9299}" srcOrd="0" destOrd="0" presId="urn:microsoft.com/office/officeart/2005/8/layout/hierarchy1"/>
    <dgm:cxn modelId="{6F08D6C7-4405-4316-B9D0-1A0FE8B034B1}" type="presOf" srcId="{EDDB174B-4EC5-4F26-A0DB-23BA6D6717F9}" destId="{52342168-55D9-4B1D-A3F5-B022576FA671}" srcOrd="0" destOrd="0" presId="urn:microsoft.com/office/officeart/2005/8/layout/hierarchy1"/>
    <dgm:cxn modelId="{0EAEDAD7-B241-4D3B-96F4-2495FF27070C}" type="presOf" srcId="{4142DA61-D0ED-42D0-AFAA-05260A69C1E7}" destId="{AF97C941-A2E9-4EEE-BA25-427CAC6B4FD2}" srcOrd="0" destOrd="0" presId="urn:microsoft.com/office/officeart/2005/8/layout/hierarchy1"/>
    <dgm:cxn modelId="{FA6116DA-EC8D-4A12-874C-68B7696F6E74}" srcId="{4142DA61-D0ED-42D0-AFAA-05260A69C1E7}" destId="{86627B57-C411-43C3-9EB9-E20CC1747760}" srcOrd="0" destOrd="0" parTransId="{813BDCC2-71B6-4FF7-9ECE-F840B0EC65B9}" sibTransId="{C4424CA2-E226-410C-870F-3A4279A393CB}"/>
    <dgm:cxn modelId="{08F06E56-D021-4B68-B68B-9289F9475BBE}" type="presParOf" srcId="{AF97C941-A2E9-4EEE-BA25-427CAC6B4FD2}" destId="{1EB5EF36-FB22-44DC-A3EB-FDBD74209144}" srcOrd="0" destOrd="0" presId="urn:microsoft.com/office/officeart/2005/8/layout/hierarchy1"/>
    <dgm:cxn modelId="{3BF3C034-F166-4D29-843C-3FC50DD02DA9}" type="presParOf" srcId="{1EB5EF36-FB22-44DC-A3EB-FDBD74209144}" destId="{83CD1559-6CBC-4C1C-8BE7-5C8322DCC5B6}" srcOrd="0" destOrd="0" presId="urn:microsoft.com/office/officeart/2005/8/layout/hierarchy1"/>
    <dgm:cxn modelId="{19549C81-DF2D-441C-9440-B850E465691B}" type="presParOf" srcId="{83CD1559-6CBC-4C1C-8BE7-5C8322DCC5B6}" destId="{6A013A58-DD27-4CE6-AA88-D2D9EDE9D03A}" srcOrd="0" destOrd="0" presId="urn:microsoft.com/office/officeart/2005/8/layout/hierarchy1"/>
    <dgm:cxn modelId="{D540E70E-1259-49B4-8B47-68569CABF195}" type="presParOf" srcId="{83CD1559-6CBC-4C1C-8BE7-5C8322DCC5B6}" destId="{5AC323CA-5820-40BF-93E2-783F66947929}" srcOrd="1" destOrd="0" presId="urn:microsoft.com/office/officeart/2005/8/layout/hierarchy1"/>
    <dgm:cxn modelId="{1E1D3579-3A20-4774-A016-911E4BA8E4EB}" type="presParOf" srcId="{1EB5EF36-FB22-44DC-A3EB-FDBD74209144}" destId="{F89498FA-71E7-4FB3-9583-056004E4E434}" srcOrd="1" destOrd="0" presId="urn:microsoft.com/office/officeart/2005/8/layout/hierarchy1"/>
    <dgm:cxn modelId="{547D16E0-B122-4ED2-B87C-3F8DB75D24A3}" type="presParOf" srcId="{AF97C941-A2E9-4EEE-BA25-427CAC6B4FD2}" destId="{ECAA9F1C-2486-4BA8-ACE9-5A8A39E72FD5}" srcOrd="1" destOrd="0" presId="urn:microsoft.com/office/officeart/2005/8/layout/hierarchy1"/>
    <dgm:cxn modelId="{DD8ECF24-ABFE-481C-ACB9-9C1085BC8B6D}" type="presParOf" srcId="{ECAA9F1C-2486-4BA8-ACE9-5A8A39E72FD5}" destId="{26BAA4BA-864F-4CF1-BBFF-2DD4F1F071F4}" srcOrd="0" destOrd="0" presId="urn:microsoft.com/office/officeart/2005/8/layout/hierarchy1"/>
    <dgm:cxn modelId="{047614F7-E24B-466A-A275-A3CE3418A8AB}" type="presParOf" srcId="{26BAA4BA-864F-4CF1-BBFF-2DD4F1F071F4}" destId="{F32CC4C6-BFBA-426B-B87C-CE7D4CCF4622}" srcOrd="0" destOrd="0" presId="urn:microsoft.com/office/officeart/2005/8/layout/hierarchy1"/>
    <dgm:cxn modelId="{C7867B43-458D-481B-BE18-C7EC39BC456B}" type="presParOf" srcId="{26BAA4BA-864F-4CF1-BBFF-2DD4F1F071F4}" destId="{11183E68-8575-4DFF-A2B2-7DD6430D9299}" srcOrd="1" destOrd="0" presId="urn:microsoft.com/office/officeart/2005/8/layout/hierarchy1"/>
    <dgm:cxn modelId="{2C5C78A7-F69D-4D11-8550-2AB9D3330332}" type="presParOf" srcId="{ECAA9F1C-2486-4BA8-ACE9-5A8A39E72FD5}" destId="{78DD5AE9-DE9E-4567-8498-0EB8E283FC31}" srcOrd="1" destOrd="0" presId="urn:microsoft.com/office/officeart/2005/8/layout/hierarchy1"/>
    <dgm:cxn modelId="{5589B690-1AE2-40F1-BCC7-9FAB66605720}" type="presParOf" srcId="{AF97C941-A2E9-4EEE-BA25-427CAC6B4FD2}" destId="{999611FE-544D-4525-A52B-0716794919AA}" srcOrd="2" destOrd="0" presId="urn:microsoft.com/office/officeart/2005/8/layout/hierarchy1"/>
    <dgm:cxn modelId="{5925EE36-C354-4491-A81C-0D80C1F9E0CF}" type="presParOf" srcId="{999611FE-544D-4525-A52B-0716794919AA}" destId="{FC30A112-5AB6-43B2-93F1-F44394F2B4F3}" srcOrd="0" destOrd="0" presId="urn:microsoft.com/office/officeart/2005/8/layout/hierarchy1"/>
    <dgm:cxn modelId="{0C9242DE-9C1D-475F-AF97-9F28B175A572}" type="presParOf" srcId="{FC30A112-5AB6-43B2-93F1-F44394F2B4F3}" destId="{25490FB1-CBAF-4F30-A756-431DA441A678}" srcOrd="0" destOrd="0" presId="urn:microsoft.com/office/officeart/2005/8/layout/hierarchy1"/>
    <dgm:cxn modelId="{E6BA2A79-5487-451C-A672-FD7477378028}" type="presParOf" srcId="{FC30A112-5AB6-43B2-93F1-F44394F2B4F3}" destId="{52342168-55D9-4B1D-A3F5-B022576FA671}" srcOrd="1" destOrd="0" presId="urn:microsoft.com/office/officeart/2005/8/layout/hierarchy1"/>
    <dgm:cxn modelId="{6B0A8648-70B8-4B6F-AB97-234159E3E554}" type="presParOf" srcId="{999611FE-544D-4525-A52B-0716794919AA}" destId="{0330BCF4-AD80-4D80-A635-440FB54A81F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B5D9CA-26C3-41A4-9D04-6FBAED258D6B}">
      <dsp:nvSpPr>
        <dsp:cNvPr id="0" name=""/>
        <dsp:cNvSpPr/>
      </dsp:nvSpPr>
      <dsp:spPr>
        <a:xfrm>
          <a:off x="0" y="706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FB972F-76CD-4604-9133-AC3B63947CAD}">
      <dsp:nvSpPr>
        <dsp:cNvPr id="0" name=""/>
        <dsp:cNvSpPr/>
      </dsp:nvSpPr>
      <dsp:spPr>
        <a:xfrm>
          <a:off x="500008" y="372613"/>
          <a:ext cx="909106" cy="9091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7CE0AB-DBD9-4AA9-88D2-7E111FA93577}">
      <dsp:nvSpPr>
        <dsp:cNvPr id="0" name=""/>
        <dsp:cNvSpPr/>
      </dsp:nvSpPr>
      <dsp:spPr>
        <a:xfrm>
          <a:off x="1909124" y="706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Descriptive Analysis: Statistical summaries (mean, median, mode, ranges</a:t>
          </a:r>
          <a:r>
            <a:rPr lang="en-US" sz="2200" kern="1200" dirty="0">
              <a:latin typeface="Neue Haas Grotesk Text Pro"/>
            </a:rPr>
            <a:t>, etc.)</a:t>
          </a:r>
        </a:p>
      </dsp:txBody>
      <dsp:txXfrm>
        <a:off x="1909124" y="706"/>
        <a:ext cx="5040315" cy="1652921"/>
      </dsp:txXfrm>
    </dsp:sp>
    <dsp:sp modelId="{48AF5365-2B19-4734-B3D9-6713BCF46329}">
      <dsp:nvSpPr>
        <dsp:cNvPr id="0" name=""/>
        <dsp:cNvSpPr/>
      </dsp:nvSpPr>
      <dsp:spPr>
        <a:xfrm>
          <a:off x="0" y="2066858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841F0B-49BD-4AAC-9A29-965CE2AD1AD6}">
      <dsp:nvSpPr>
        <dsp:cNvPr id="0" name=""/>
        <dsp:cNvSpPr/>
      </dsp:nvSpPr>
      <dsp:spPr>
        <a:xfrm>
          <a:off x="500008" y="2438765"/>
          <a:ext cx="909106" cy="9091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D7D2DE-ED1E-464E-A009-85240F02C071}">
      <dsp:nvSpPr>
        <dsp:cNvPr id="0" name=""/>
        <dsp:cNvSpPr/>
      </dsp:nvSpPr>
      <dsp:spPr>
        <a:xfrm>
          <a:off x="1909124" y="2066858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Exploratory Analysis: Visualizations (bar charts, boxplots, histograms, heatmaps, scatter plots, pie charts)</a:t>
          </a:r>
        </a:p>
      </dsp:txBody>
      <dsp:txXfrm>
        <a:off x="1909124" y="2066858"/>
        <a:ext cx="5040315" cy="1652921"/>
      </dsp:txXfrm>
    </dsp:sp>
    <dsp:sp modelId="{DDC03529-26CD-4BA6-9DB4-3EA7696B51DD}">
      <dsp:nvSpPr>
        <dsp:cNvPr id="0" name=""/>
        <dsp:cNvSpPr/>
      </dsp:nvSpPr>
      <dsp:spPr>
        <a:xfrm>
          <a:off x="0" y="4133010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8B6E33-85F9-4C88-8773-E87E5B1EC998}">
      <dsp:nvSpPr>
        <dsp:cNvPr id="0" name=""/>
        <dsp:cNvSpPr/>
      </dsp:nvSpPr>
      <dsp:spPr>
        <a:xfrm>
          <a:off x="500008" y="4504917"/>
          <a:ext cx="909106" cy="9091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290334-42BA-4C6E-93CA-861FA2250752}">
      <dsp:nvSpPr>
        <dsp:cNvPr id="0" name=""/>
        <dsp:cNvSpPr/>
      </dsp:nvSpPr>
      <dsp:spPr>
        <a:xfrm>
          <a:off x="1909124" y="4133010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Predictive Analysis: ML models (Logistic Regression, Decision Tree, Random Forest)</a:t>
          </a:r>
        </a:p>
      </dsp:txBody>
      <dsp:txXfrm>
        <a:off x="1909124" y="4133010"/>
        <a:ext cx="5040315" cy="16529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3E21AA-8CDF-4C66-B380-BEF7CBE262A2}">
      <dsp:nvSpPr>
        <dsp:cNvPr id="0" name=""/>
        <dsp:cNvSpPr/>
      </dsp:nvSpPr>
      <dsp:spPr>
        <a:xfrm>
          <a:off x="715" y="295136"/>
          <a:ext cx="2899005" cy="347880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357" tIns="0" rIns="286357" bIns="330200" numCol="1" spcCol="1270" anchor="t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Prioritise</a:t>
          </a:r>
          <a:r>
            <a:rPr lang="en-US" sz="1900" kern="1200" dirty="0"/>
            <a:t> SSL validation and </a:t>
          </a:r>
          <a:r>
            <a:rPr lang="en-US" sz="1900" kern="1200" dirty="0">
              <a:latin typeface="Neue Haas Grotesk Text Pro"/>
            </a:rPr>
            <a:t>anchor link</a:t>
          </a:r>
          <a:r>
            <a:rPr lang="en-US" sz="1900" kern="1200" dirty="0"/>
            <a:t> analysis in automated detection.</a:t>
          </a:r>
        </a:p>
      </dsp:txBody>
      <dsp:txXfrm>
        <a:off x="715" y="1686659"/>
        <a:ext cx="2899005" cy="2087283"/>
      </dsp:txXfrm>
    </dsp:sp>
    <dsp:sp modelId="{E20686A7-4AF1-4CDF-853E-EDEE594A28F1}">
      <dsp:nvSpPr>
        <dsp:cNvPr id="0" name=""/>
        <dsp:cNvSpPr/>
      </dsp:nvSpPr>
      <dsp:spPr>
        <a:xfrm>
          <a:off x="715" y="295136"/>
          <a:ext cx="2899005" cy="139152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357" tIns="165100" rIns="28635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715" y="295136"/>
        <a:ext cx="2899005" cy="1391522"/>
      </dsp:txXfrm>
    </dsp:sp>
    <dsp:sp modelId="{612151C8-E893-4C48-B2F8-1A1513836437}">
      <dsp:nvSpPr>
        <dsp:cNvPr id="0" name=""/>
        <dsp:cNvSpPr/>
      </dsp:nvSpPr>
      <dsp:spPr>
        <a:xfrm>
          <a:off x="3131641" y="295136"/>
          <a:ext cx="2899005" cy="3478806"/>
        </a:xfrm>
        <a:prstGeom prst="rect">
          <a:avLst/>
        </a:prstGeom>
        <a:solidFill>
          <a:schemeClr val="accent2">
            <a:hueOff val="-520665"/>
            <a:satOff val="-10816"/>
            <a:lumOff val="-2941"/>
            <a:alphaOff val="0"/>
          </a:schemeClr>
        </a:solidFill>
        <a:ln w="12700" cap="flat" cmpd="sng" algn="ctr">
          <a:solidFill>
            <a:schemeClr val="accent2">
              <a:hueOff val="-520665"/>
              <a:satOff val="-10816"/>
              <a:lumOff val="-29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357" tIns="0" rIns="286357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Use ensemble Machine Learning models (random forest) for best results in real-world phishing detection.</a:t>
          </a:r>
        </a:p>
      </dsp:txBody>
      <dsp:txXfrm>
        <a:off x="3131641" y="1686659"/>
        <a:ext cx="2899005" cy="2087283"/>
      </dsp:txXfrm>
    </dsp:sp>
    <dsp:sp modelId="{38D8AFAD-461F-49BB-9C43-203E795D5FBB}">
      <dsp:nvSpPr>
        <dsp:cNvPr id="0" name=""/>
        <dsp:cNvSpPr/>
      </dsp:nvSpPr>
      <dsp:spPr>
        <a:xfrm>
          <a:off x="3131641" y="295136"/>
          <a:ext cx="2899005" cy="139152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357" tIns="165100" rIns="28635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131641" y="295136"/>
        <a:ext cx="2899005" cy="1391522"/>
      </dsp:txXfrm>
    </dsp:sp>
    <dsp:sp modelId="{C5D1913B-1D8B-42F3-9DEB-BF3E61ACAE7B}">
      <dsp:nvSpPr>
        <dsp:cNvPr id="0" name=""/>
        <dsp:cNvSpPr/>
      </dsp:nvSpPr>
      <dsp:spPr>
        <a:xfrm>
          <a:off x="6262567" y="295136"/>
          <a:ext cx="2899005" cy="3478806"/>
        </a:xfrm>
        <a:prstGeom prst="rect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accent2">
              <a:hueOff val="-1041329"/>
              <a:satOff val="-21631"/>
              <a:lumOff val="-5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357" tIns="0" rIns="286357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Implement regular monitoring of top indicators to strengthen web security.</a:t>
          </a:r>
        </a:p>
      </dsp:txBody>
      <dsp:txXfrm>
        <a:off x="6262567" y="1686659"/>
        <a:ext cx="2899005" cy="2087283"/>
      </dsp:txXfrm>
    </dsp:sp>
    <dsp:sp modelId="{941893F2-9EEC-477A-AF4E-32D4EB5FC8C1}">
      <dsp:nvSpPr>
        <dsp:cNvPr id="0" name=""/>
        <dsp:cNvSpPr/>
      </dsp:nvSpPr>
      <dsp:spPr>
        <a:xfrm>
          <a:off x="6262567" y="295136"/>
          <a:ext cx="2899005" cy="139152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357" tIns="165100" rIns="28635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6262567" y="295136"/>
        <a:ext cx="2899005" cy="139152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13A58-DD27-4CE6-AA88-D2D9EDE9D03A}">
      <dsp:nvSpPr>
        <dsp:cNvPr id="0" name=""/>
        <dsp:cNvSpPr/>
      </dsp:nvSpPr>
      <dsp:spPr>
        <a:xfrm>
          <a:off x="0" y="956885"/>
          <a:ext cx="2906817" cy="184582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C323CA-5820-40BF-93E2-783F66947929}">
      <dsp:nvSpPr>
        <dsp:cNvPr id="0" name=""/>
        <dsp:cNvSpPr/>
      </dsp:nvSpPr>
      <dsp:spPr>
        <a:xfrm>
          <a:off x="322979" y="1263716"/>
          <a:ext cx="2906817" cy="18458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Phishing sites are defined by invalid SSL, suspicious anchor links, and long URLs</a:t>
          </a:r>
        </a:p>
      </dsp:txBody>
      <dsp:txXfrm>
        <a:off x="377041" y="1317778"/>
        <a:ext cx="2798693" cy="1737704"/>
      </dsp:txXfrm>
    </dsp:sp>
    <dsp:sp modelId="{F32CC4C6-BFBA-426B-B87C-CE7D4CCF4622}">
      <dsp:nvSpPr>
        <dsp:cNvPr id="0" name=""/>
        <dsp:cNvSpPr/>
      </dsp:nvSpPr>
      <dsp:spPr>
        <a:xfrm>
          <a:off x="3552776" y="956885"/>
          <a:ext cx="2906817" cy="184582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183E68-8575-4DFF-A2B2-7DD6430D9299}">
      <dsp:nvSpPr>
        <dsp:cNvPr id="0" name=""/>
        <dsp:cNvSpPr/>
      </dsp:nvSpPr>
      <dsp:spPr>
        <a:xfrm>
          <a:off x="3875756" y="1263716"/>
          <a:ext cx="2906817" cy="18458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 err="1">
              <a:latin typeface="Neue Haas Grotesk Text Pro"/>
            </a:rPr>
            <a:t>SSLfinal_State</a:t>
          </a:r>
          <a:r>
            <a:rPr lang="en-US" sz="1800" kern="1200" dirty="0"/>
            <a:t> and </a:t>
          </a:r>
          <a:r>
            <a:rPr lang="en-US" sz="1800" b="1" kern="1200" dirty="0" err="1">
              <a:latin typeface="Neue Haas Grotesk Text Pro"/>
            </a:rPr>
            <a:t>URL_of_Anchor</a:t>
          </a:r>
          <a:r>
            <a:rPr lang="en-US" sz="1800" kern="1200" dirty="0"/>
            <a:t> were consistently the strongest indicators across all analyses.</a:t>
          </a:r>
        </a:p>
      </dsp:txBody>
      <dsp:txXfrm>
        <a:off x="3929818" y="1317778"/>
        <a:ext cx="2798693" cy="1737704"/>
      </dsp:txXfrm>
    </dsp:sp>
    <dsp:sp modelId="{25490FB1-CBAF-4F30-A756-431DA441A678}">
      <dsp:nvSpPr>
        <dsp:cNvPr id="0" name=""/>
        <dsp:cNvSpPr/>
      </dsp:nvSpPr>
      <dsp:spPr>
        <a:xfrm>
          <a:off x="7105553" y="956885"/>
          <a:ext cx="2906817" cy="184582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342168-55D9-4B1D-A3F5-B022576FA671}">
      <dsp:nvSpPr>
        <dsp:cNvPr id="0" name=""/>
        <dsp:cNvSpPr/>
      </dsp:nvSpPr>
      <dsp:spPr>
        <a:xfrm>
          <a:off x="7428532" y="1263716"/>
          <a:ext cx="2906817" cy="18458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Neue Haas Grotesk Text Pro"/>
            </a:rPr>
            <a:t>Random</a:t>
          </a:r>
          <a:r>
            <a:rPr lang="en-US" sz="1800" b="1" kern="1200" dirty="0"/>
            <a:t> Forest</a:t>
          </a:r>
          <a:r>
            <a:rPr lang="en-US" sz="1800" kern="1200" dirty="0"/>
            <a:t> model can automate detection with </a:t>
          </a:r>
          <a:r>
            <a:rPr lang="en-US" sz="1800" b="1" kern="1200" dirty="0"/>
            <a:t>96.7% accuracy</a:t>
          </a:r>
          <a:r>
            <a:rPr lang="en-US" sz="1800" kern="1200" dirty="0"/>
            <a:t>, providing a powerful tool for mitigating phishing attacks.</a:t>
          </a:r>
        </a:p>
      </dsp:txBody>
      <dsp:txXfrm>
        <a:off x="7482594" y="1317778"/>
        <a:ext cx="2798693" cy="17377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6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122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071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165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41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68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056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557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890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56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792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006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88" r:id="rId6"/>
    <p:sldLayoutId id="2147483684" r:id="rId7"/>
    <p:sldLayoutId id="2147483685" r:id="rId8"/>
    <p:sldLayoutId id="2147483686" r:id="rId9"/>
    <p:sldLayoutId id="2147483687" r:id="rId10"/>
    <p:sldLayoutId id="214748368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jupyter.org/" TargetMode="External"/><Relationship Id="rId7" Type="http://schemas.openxmlformats.org/officeDocument/2006/relationships/hyperlink" Target="https://www.ibm.com/think/topics/exploratory-data-analysis" TargetMode="External"/><Relationship Id="rId2" Type="http://schemas.openxmlformats.org/officeDocument/2006/relationships/hyperlink" Target="https://archive.ics.uci.edu/dataset/327/phishing+website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questionpro.com/blog/descriptive-analysis/" TargetMode="External"/><Relationship Id="rId5" Type="http://schemas.openxmlformats.org/officeDocument/2006/relationships/hyperlink" Target="https://vitalflux.com/data-variables-types-uses-in-data-science/" TargetMode="External"/><Relationship Id="rId4" Type="http://schemas.openxmlformats.org/officeDocument/2006/relationships/hyperlink" Target="https://online.hbs.edu/blog/post/predictive-analytic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1BA7680-B1FB-4B6B-2155-45DD5D6C4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Financial graphs on a dark display">
            <a:extLst>
              <a:ext uri="{FF2B5EF4-FFF2-40B4-BE49-F238E27FC236}">
                <a16:creationId xmlns:a16="http://schemas.microsoft.com/office/drawing/2014/main" id="{05848487-9D9D-3C36-B411-60057548F8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183" r="9085" b="-7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32383"/>
            <a:ext cx="12192000" cy="452561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4506" y="3991500"/>
            <a:ext cx="8837546" cy="1870483"/>
          </a:xfrm>
        </p:spPr>
        <p:txBody>
          <a:bodyPr>
            <a:normAutofit/>
          </a:bodyPr>
          <a:lstStyle/>
          <a:p>
            <a:pPr algn="l"/>
            <a:r>
              <a:rPr lang="en-US" sz="5100">
                <a:solidFill>
                  <a:srgbClr val="FFFFFF"/>
                </a:solidFill>
              </a:rPr>
              <a:t>HTCS6706 Data Analysis</a:t>
            </a:r>
            <a:br>
              <a:rPr lang="en-US" sz="5100">
                <a:solidFill>
                  <a:srgbClr val="FFFFFF"/>
                </a:solidFill>
              </a:rPr>
            </a:br>
            <a:r>
              <a:rPr lang="en-US" sz="5100">
                <a:solidFill>
                  <a:srgbClr val="FFFFFF"/>
                </a:solidFill>
              </a:rPr>
              <a:t>Part 3: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506" y="5917399"/>
            <a:ext cx="8837546" cy="644789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400">
                <a:solidFill>
                  <a:srgbClr val="FFFFFF"/>
                </a:solidFill>
              </a:rPr>
              <a:t>By Young Kwang Kweon (1605812)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82B38-E3EA-05F4-8C02-40F05A97E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3007" y="603501"/>
            <a:ext cx="4361693" cy="1527049"/>
          </a:xfrm>
        </p:spPr>
        <p:txBody>
          <a:bodyPr anchor="b">
            <a:normAutofit/>
          </a:bodyPr>
          <a:lstStyle/>
          <a:p>
            <a:r>
              <a:rPr lang="en-US" dirty="0"/>
              <a:t>Project Overview</a:t>
            </a: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A28323A7-971E-01E7-6BD5-C6868AF749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07" r="27560" b="-1"/>
          <a:stretch>
            <a:fillRect/>
          </a:stretch>
        </p:blipFill>
        <p:spPr>
          <a:xfrm>
            <a:off x="1" y="10"/>
            <a:ext cx="6373368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A51E4-415E-8F28-3806-A86EEF612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007" y="2212846"/>
            <a:ext cx="4361693" cy="40965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b="1" dirty="0">
                <a:ea typeface="+mn-lt"/>
                <a:cs typeface="+mn-lt"/>
              </a:rPr>
              <a:t>Problem</a:t>
            </a:r>
            <a:r>
              <a:rPr lang="en-US" sz="1800" dirty="0">
                <a:ea typeface="+mn-lt"/>
                <a:cs typeface="+mn-lt"/>
              </a:rPr>
              <a:t>: Phishing is a major cybersecurity threat, using fraudulent websites to steal user data</a:t>
            </a:r>
          </a:p>
          <a:p>
            <a:r>
              <a:rPr lang="en-US" sz="1800" b="1" dirty="0">
                <a:ea typeface="+mn-lt"/>
                <a:cs typeface="+mn-lt"/>
              </a:rPr>
              <a:t>Aim</a:t>
            </a:r>
            <a:r>
              <a:rPr lang="en-US" sz="1800" dirty="0">
                <a:ea typeface="+mn-lt"/>
                <a:cs typeface="+mn-lt"/>
              </a:rPr>
              <a:t>: Use data analysis and machine learning to identify, understand, and predict phishing attacks.</a:t>
            </a:r>
          </a:p>
          <a:p>
            <a:r>
              <a:rPr lang="en-US" sz="1800" b="1" dirty="0">
                <a:ea typeface="+mn-lt"/>
                <a:cs typeface="+mn-lt"/>
              </a:rPr>
              <a:t>Dataset</a:t>
            </a:r>
            <a:r>
              <a:rPr lang="en-US" sz="1800" dirty="0">
                <a:ea typeface="+mn-lt"/>
                <a:cs typeface="+mn-lt"/>
              </a:rPr>
              <a:t>: 11,055 websites, 30 structural attributes</a:t>
            </a:r>
            <a:endParaRPr lang="en-US" sz="1800" dirty="0"/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17904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E31CA0-4B70-DA92-0D19-9A2CE1CD9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 dirty="0"/>
              <a:t>The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7178D-AE5D-38A1-009C-5D1119E7B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ea typeface="+mn-lt"/>
                <a:cs typeface="+mn-lt"/>
              </a:rPr>
              <a:t>44% (4,898) phishing, 56% (6,157) legitimate websites (moderately balanced)</a:t>
            </a:r>
            <a:endParaRPr lang="en-US" sz="1800" dirty="0"/>
          </a:p>
          <a:p>
            <a:r>
              <a:rPr lang="en-US" sz="1800" dirty="0">
                <a:ea typeface="+mn-lt"/>
                <a:cs typeface="+mn-lt"/>
              </a:rPr>
              <a:t>Features: 30 web attributes (e.g., SSL status, URL structure, anchor tags)</a:t>
            </a:r>
            <a:endParaRPr lang="en-US" sz="1800" dirty="0"/>
          </a:p>
          <a:p>
            <a:r>
              <a:rPr lang="en-US" sz="1800" dirty="0">
                <a:ea typeface="+mn-lt"/>
                <a:cs typeface="+mn-lt"/>
              </a:rPr>
              <a:t>Each attribute: flagged as phishing (-1), suspicious (0), legitimate (1)</a:t>
            </a:r>
            <a:endParaRPr lang="en-US" sz="1800" dirty="0"/>
          </a:p>
          <a:p>
            <a:endParaRPr lang="en-US" sz="18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197786-D81A-7E6A-EFCD-07763BF28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261" y="1509829"/>
            <a:ext cx="5837780" cy="383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334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9F6D73-91CE-FA88-2F8E-35337B8FB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Cybersecurity Questions</a:t>
            </a:r>
          </a:p>
        </p:txBody>
      </p:sp>
      <p:pic>
        <p:nvPicPr>
          <p:cNvPr id="7" name="Picture 6" descr="An abstract design with lines and financial symbols">
            <a:extLst>
              <a:ext uri="{FF2B5EF4-FFF2-40B4-BE49-F238E27FC236}">
                <a16:creationId xmlns:a16="http://schemas.microsoft.com/office/drawing/2014/main" id="{A3CAE585-86C2-544F-9D02-AF4002DADD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33" r="25553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E4DA3-A98C-CDD8-60E0-6CB9D4EB5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3" y="2214282"/>
            <a:ext cx="5916169" cy="409507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>
                <a:ea typeface="+mn-lt"/>
                <a:cs typeface="+mn-lt"/>
              </a:rPr>
              <a:t>What are common features of phishing websites?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Which patterns or correlations help distinguish phishing from legitimate sites?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Can machine learning models accurately predict phishing sites?</a:t>
            </a:r>
            <a:endParaRPr lang="en-US" sz="1800"/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90221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194760-0808-30BB-F043-38C87BDCC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Analysis Process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7FA254-EDA0-CD73-60AB-46278F1B57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2337440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75938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A5A14613-C96C-F5FD-0593-24D7C0DA4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FBFB1F-BC4A-C52B-F0EC-71BBFE9B0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59" y="603504"/>
            <a:ext cx="5237576" cy="1527048"/>
          </a:xfrm>
        </p:spPr>
        <p:txBody>
          <a:bodyPr anchor="b">
            <a:normAutofit/>
          </a:bodyPr>
          <a:lstStyle/>
          <a:p>
            <a:r>
              <a:rPr lang="en-US" sz="3300" b="0" dirty="0"/>
              <a:t>Key Findings: </a:t>
            </a:r>
            <a:br>
              <a:rPr lang="en-US" sz="3300" b="0" dirty="0"/>
            </a:br>
            <a:r>
              <a:rPr lang="en-US" sz="3300" b="0" dirty="0"/>
              <a:t>Descriptive &amp; Exploratory</a:t>
            </a:r>
            <a:endParaRPr lang="en-US" sz="3300" dirty="0"/>
          </a:p>
          <a:p>
            <a:endParaRPr lang="en-US" sz="330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64F9F7AC-6C2F-AAAE-E935-8DB4BE57C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758" y="2212848"/>
            <a:ext cx="5237577" cy="409651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 b="1" dirty="0" err="1">
                <a:latin typeface="Neue Haas Grotesk Text Pro"/>
              </a:rPr>
              <a:t>SSLfinal_State</a:t>
            </a:r>
            <a:r>
              <a:rPr lang="en-US" sz="1800" dirty="0">
                <a:ea typeface="+mn-lt"/>
                <a:cs typeface="+mn-lt"/>
              </a:rPr>
              <a:t> and </a:t>
            </a:r>
            <a:r>
              <a:rPr lang="en-US" sz="1800" b="1" dirty="0" err="1">
                <a:latin typeface="Neue Haas Grotesk Text Pro"/>
              </a:rPr>
              <a:t>URL_of_Anchor</a:t>
            </a:r>
            <a:r>
              <a:rPr lang="en-US" sz="1800" dirty="0">
                <a:ea typeface="+mn-lt"/>
                <a:cs typeface="+mn-lt"/>
              </a:rPr>
              <a:t> are the most powerful predictors.</a:t>
            </a:r>
            <a:endParaRPr lang="en-US" sz="1800" dirty="0"/>
          </a:p>
          <a:p>
            <a:r>
              <a:rPr lang="en-US" sz="1800" b="1" dirty="0">
                <a:ea typeface="+mn-lt"/>
                <a:cs typeface="+mn-lt"/>
              </a:rPr>
              <a:t>Phishing Sites:</a:t>
            </a:r>
            <a:r>
              <a:rPr lang="en-US" sz="1800" dirty="0">
                <a:ea typeface="+mn-lt"/>
                <a:cs typeface="+mn-lt"/>
              </a:rPr>
              <a:t> 62.3% have </a:t>
            </a:r>
            <a:r>
              <a:rPr lang="en-US" sz="1800" b="1" dirty="0">
                <a:ea typeface="+mn-lt"/>
                <a:cs typeface="+mn-lt"/>
              </a:rPr>
              <a:t>Invalid SSL</a:t>
            </a:r>
            <a:r>
              <a:rPr lang="en-US" sz="1800" dirty="0">
                <a:ea typeface="+mn-lt"/>
                <a:cs typeface="+mn-lt"/>
              </a:rPr>
              <a:t> certificates.</a:t>
            </a:r>
            <a:endParaRPr lang="en-US" sz="1800" dirty="0"/>
          </a:p>
          <a:p>
            <a:r>
              <a:rPr lang="en-US" sz="1800" b="1" dirty="0">
                <a:ea typeface="+mn-lt"/>
                <a:cs typeface="+mn-lt"/>
              </a:rPr>
              <a:t>Legitimate Sites:</a:t>
            </a:r>
            <a:r>
              <a:rPr lang="en-US" sz="1800" dirty="0">
                <a:ea typeface="+mn-lt"/>
                <a:cs typeface="+mn-lt"/>
              </a:rPr>
              <a:t> 91.4% have </a:t>
            </a:r>
            <a:r>
              <a:rPr lang="en-US" sz="1800" b="1" dirty="0">
                <a:ea typeface="+mn-lt"/>
                <a:cs typeface="+mn-lt"/>
              </a:rPr>
              <a:t>Valid SSL</a:t>
            </a:r>
            <a:r>
              <a:rPr lang="en-US" sz="1800" dirty="0">
                <a:ea typeface="+mn-lt"/>
                <a:cs typeface="+mn-lt"/>
              </a:rPr>
              <a:t> certificates.</a:t>
            </a:r>
            <a:endParaRPr lang="en-US" sz="1800" dirty="0"/>
          </a:p>
          <a:p>
            <a:r>
              <a:rPr lang="en-US" sz="1800" b="1" dirty="0">
                <a:ea typeface="+mn-lt"/>
                <a:cs typeface="+mn-lt"/>
              </a:rPr>
              <a:t>Phishing Sites:</a:t>
            </a:r>
            <a:r>
              <a:rPr lang="en-US" sz="1800" dirty="0">
                <a:ea typeface="+mn-lt"/>
                <a:cs typeface="+mn-lt"/>
              </a:rPr>
              <a:t> 66.3% have </a:t>
            </a:r>
            <a:r>
              <a:rPr lang="en-US" sz="1800" b="1" dirty="0">
                <a:ea typeface="+mn-lt"/>
                <a:cs typeface="+mn-lt"/>
              </a:rPr>
              <a:t>Invalid/Suspicious</a:t>
            </a:r>
            <a:r>
              <a:rPr lang="en-US" sz="1800" dirty="0">
                <a:ea typeface="+mn-lt"/>
                <a:cs typeface="+mn-lt"/>
              </a:rPr>
              <a:t> anchor links.</a:t>
            </a:r>
            <a:endParaRPr lang="en-US" sz="1800" dirty="0"/>
          </a:p>
          <a:p>
            <a:r>
              <a:rPr lang="en-US" sz="1800" b="1" dirty="0">
                <a:ea typeface="+mn-lt"/>
                <a:cs typeface="+mn-lt"/>
              </a:rPr>
              <a:t>Legitimate Sites:</a:t>
            </a:r>
            <a:r>
              <a:rPr lang="en-US" sz="1800" dirty="0">
                <a:ea typeface="+mn-lt"/>
                <a:cs typeface="+mn-lt"/>
              </a:rPr>
              <a:t> Only 0.6% have invalid links; most are valid or suspicious (internal).</a:t>
            </a:r>
            <a:endParaRPr lang="en-US" sz="1800" dirty="0"/>
          </a:p>
          <a:p>
            <a:endParaRPr lang="en-US" sz="180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8DCC397-A2C3-1547-9665-1320FFCC6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858" y="866876"/>
            <a:ext cx="4919650" cy="244752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96D15C8-5DD0-84F7-D98F-822268281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858" y="3989759"/>
            <a:ext cx="4919652" cy="252132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AD1A60F-E460-6308-4BC2-755DDEDD7BD6}"/>
              </a:ext>
            </a:extLst>
          </p:cNvPr>
          <p:cNvSpPr txBox="1"/>
          <p:nvPr/>
        </p:nvSpPr>
        <p:spPr>
          <a:xfrm>
            <a:off x="8285403" y="488851"/>
            <a:ext cx="202958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err="1"/>
              <a:t>SSLfinal_State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E6C425-411E-DB00-71A9-ED258A80649A}"/>
              </a:ext>
            </a:extLst>
          </p:cNvPr>
          <p:cNvSpPr txBox="1"/>
          <p:nvPr/>
        </p:nvSpPr>
        <p:spPr>
          <a:xfrm>
            <a:off x="8285402" y="3609421"/>
            <a:ext cx="202958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 err="1"/>
              <a:t>URL_of_Anchor</a:t>
            </a:r>
          </a:p>
        </p:txBody>
      </p:sp>
    </p:spTree>
    <p:extLst>
      <p:ext uri="{BB962C8B-B14F-4D97-AF65-F5344CB8AC3E}">
        <p14:creationId xmlns:p14="http://schemas.microsoft.com/office/powerpoint/2010/main" val="4277255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F8BE9A2-8956-141B-BFE6-C607C93D8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D3EE38-DD95-81BF-F09D-F9F101C9C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4" y="4837132"/>
            <a:ext cx="4705097" cy="1615684"/>
          </a:xfrm>
        </p:spPr>
        <p:txBody>
          <a:bodyPr>
            <a:normAutofit/>
          </a:bodyPr>
          <a:lstStyle/>
          <a:p>
            <a:r>
              <a:rPr lang="en-US" b="0" dirty="0"/>
              <a:t>Visual Highlights:</a:t>
            </a:r>
            <a:br>
              <a:rPr lang="en-US" b="0" dirty="0"/>
            </a:br>
            <a:r>
              <a:rPr lang="en-US" b="0" dirty="0"/>
              <a:t> Bar chart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0983A-2531-6793-A72D-C6786AE29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9333" y="4837132"/>
            <a:ext cx="5753567" cy="161568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>
                <a:ea typeface="+mn-lt"/>
                <a:cs typeface="+mn-lt"/>
              </a:rPr>
              <a:t>Top phishing indicators: SSLfinal_State and URL_of_Anchor</a:t>
            </a:r>
            <a:endParaRPr lang="en-US" sz="1800"/>
          </a:p>
          <a:p>
            <a:endParaRPr lang="en-US" sz="1800"/>
          </a:p>
          <a:p>
            <a:endParaRPr lang="en-US" sz="1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78FBC4-8CFF-AE97-3713-2FFA2785C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74" y="690"/>
            <a:ext cx="10889009" cy="483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563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AE8379-366B-085A-B723-F3BC58627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FCAA13-3D50-48CF-29C5-B59B9BA8E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776161" cy="1360728"/>
          </a:xfrm>
        </p:spPr>
        <p:txBody>
          <a:bodyPr anchor="b">
            <a:normAutofit/>
          </a:bodyPr>
          <a:lstStyle/>
          <a:p>
            <a:r>
              <a:rPr lang="en-US" b="0" dirty="0"/>
              <a:t>Visual Highlights:</a:t>
            </a:r>
            <a:br>
              <a:rPr lang="en-US" b="0" dirty="0"/>
            </a:br>
            <a:r>
              <a:rPr lang="en-US" b="0" dirty="0"/>
              <a:t>Boxplot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BFEFB-2F7F-BEFB-5CFC-A8086DAF0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>
                <a:ea typeface="+mn-lt"/>
                <a:cs typeface="+mn-lt"/>
              </a:rPr>
              <a:t>Phishing flags spread wider in phishing sites</a:t>
            </a:r>
            <a:endParaRPr lang="en-US" sz="1800"/>
          </a:p>
          <a:p>
            <a:endParaRPr lang="en-US" sz="1800"/>
          </a:p>
          <a:p>
            <a:endParaRPr lang="en-US" sz="1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6F58C8-CB08-8B02-DE69-3893D38ED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261" y="1269021"/>
            <a:ext cx="5837780" cy="431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250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D2484A-47F2-56E0-3CFD-4BDBC417C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2AFC67-0973-EC0D-F14E-710D701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0B3BCE-6BE9-0E66-4F16-646F00744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3553412" cy="1527048"/>
          </a:xfrm>
        </p:spPr>
        <p:txBody>
          <a:bodyPr anchor="b">
            <a:normAutofit/>
          </a:bodyPr>
          <a:lstStyle/>
          <a:p>
            <a:r>
              <a:rPr lang="en-US" sz="3300" b="0" dirty="0"/>
              <a:t>Visual Highlights: Heatmap </a:t>
            </a:r>
          </a:p>
          <a:p>
            <a:endParaRPr lang="en-US" sz="33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E1004-E6D9-D8B4-F79C-D04D23FF4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3553412" cy="41224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b="1" err="1">
                <a:ea typeface="+mn-lt"/>
                <a:cs typeface="+mn-lt"/>
              </a:rPr>
              <a:t>SSLfinal_State</a:t>
            </a:r>
            <a:r>
              <a:rPr lang="en-US" sz="1800" dirty="0">
                <a:ea typeface="+mn-lt"/>
                <a:cs typeface="+mn-lt"/>
              </a:rPr>
              <a:t> and </a:t>
            </a:r>
            <a:r>
              <a:rPr lang="en-US" sz="1800" b="1" err="1">
                <a:ea typeface="+mn-lt"/>
                <a:cs typeface="+mn-lt"/>
              </a:rPr>
              <a:t>URL_of_Anchor</a:t>
            </a:r>
            <a:r>
              <a:rPr lang="en-US" sz="1800" dirty="0">
                <a:ea typeface="+mn-lt"/>
                <a:cs typeface="+mn-lt"/>
              </a:rPr>
              <a:t> show strong correlation with “</a:t>
            </a:r>
            <a:r>
              <a:rPr lang="en-US" sz="1800" b="1" dirty="0">
                <a:ea typeface="+mn-lt"/>
                <a:cs typeface="+mn-lt"/>
              </a:rPr>
              <a:t>Result</a:t>
            </a:r>
            <a:r>
              <a:rPr lang="en-US" sz="1800" dirty="0">
                <a:ea typeface="+mn-lt"/>
                <a:cs typeface="+mn-lt"/>
              </a:rPr>
              <a:t>” (site type)</a:t>
            </a:r>
            <a:endParaRPr lang="en-US" sz="1800" dirty="0"/>
          </a:p>
          <a:p>
            <a:endParaRPr lang="en-US" sz="1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BF5E7C-18BA-30F8-1DA7-FFDC5B442B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86" b="2"/>
          <a:stretch>
            <a:fillRect/>
          </a:stretch>
        </p:blipFill>
        <p:spPr>
          <a:xfrm>
            <a:off x="4752550" y="10"/>
            <a:ext cx="743945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325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A22FFE-FE4C-AE72-5D9E-5A85AA8FD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219D95-694B-FA69-85F3-C0AED5144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420" y="1387927"/>
            <a:ext cx="3212502" cy="1942773"/>
          </a:xfrm>
        </p:spPr>
        <p:txBody>
          <a:bodyPr anchor="b">
            <a:normAutofit/>
          </a:bodyPr>
          <a:lstStyle/>
          <a:p>
            <a:r>
              <a:rPr lang="en-US" sz="3300" b="0" dirty="0"/>
              <a:t>Visual Highlights –Scatter plot</a:t>
            </a:r>
            <a:endParaRPr lang="en-US" sz="3300" dirty="0"/>
          </a:p>
          <a:p>
            <a:endParaRPr lang="en-US" sz="33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218A00-C6E9-F3EB-4B14-0AC1A0971D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655" b="2"/>
          <a:stretch>
            <a:fillRect/>
          </a:stretch>
        </p:blipFill>
        <p:spPr>
          <a:xfrm>
            <a:off x="20" y="10"/>
            <a:ext cx="7723393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C2B8C-629D-03A0-AAAD-09A3D36CF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0420" y="3412998"/>
            <a:ext cx="3212502" cy="27673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b="1" dirty="0" err="1">
                <a:ea typeface="+mn-lt"/>
                <a:cs typeface="+mn-lt"/>
              </a:rPr>
              <a:t>SSLfinal_State</a:t>
            </a:r>
            <a:r>
              <a:rPr lang="en-US" sz="1800" dirty="0">
                <a:ea typeface="+mn-lt"/>
                <a:cs typeface="+mn-lt"/>
              </a:rPr>
              <a:t> and </a:t>
            </a:r>
            <a:r>
              <a:rPr lang="en-US" sz="1800" b="1" dirty="0" err="1">
                <a:ea typeface="+mn-lt"/>
                <a:cs typeface="+mn-lt"/>
              </a:rPr>
              <a:t>URL_of_Anchor</a:t>
            </a:r>
            <a:r>
              <a:rPr lang="en-US" sz="1800" dirty="0">
                <a:ea typeface="+mn-lt"/>
                <a:cs typeface="+mn-lt"/>
              </a:rPr>
              <a:t> strong correlation with “</a:t>
            </a:r>
            <a:r>
              <a:rPr lang="en-US" sz="1800" b="1" dirty="0">
                <a:ea typeface="+mn-lt"/>
                <a:cs typeface="+mn-lt"/>
              </a:rPr>
              <a:t>Result</a:t>
            </a:r>
            <a:r>
              <a:rPr lang="en-US" sz="1800" dirty="0">
                <a:ea typeface="+mn-lt"/>
                <a:cs typeface="+mn-lt"/>
              </a:rPr>
              <a:t>” (site type)</a:t>
            </a:r>
            <a:endParaRPr lang="en-US" sz="1800" dirty="0"/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87244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1AF0-8C69-F720-C85B-941DBBB1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Predictive Model Comparison</a:t>
            </a:r>
          </a:p>
          <a:p>
            <a:endParaRPr lang="en-US" b="0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BA2DA-1650-B05E-835F-1460D8B7B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All models work well; random forest is best.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Top features are consistent across models.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The model confirms our findings: </a:t>
            </a:r>
            <a:r>
              <a:rPr lang="en-US" dirty="0">
                <a:latin typeface="Neue Haas Grotesk Text Pro"/>
              </a:rPr>
              <a:t>SSL</a:t>
            </a:r>
            <a:r>
              <a:rPr lang="en-US" dirty="0">
                <a:ea typeface="+mn-lt"/>
                <a:cs typeface="+mn-lt"/>
              </a:rPr>
              <a:t> and </a:t>
            </a:r>
            <a:br>
              <a:rPr lang="en-US" dirty="0">
                <a:latin typeface="Neue Haas Grotesk Text Pro"/>
              </a:rPr>
            </a:br>
            <a:r>
              <a:rPr lang="en-US" dirty="0">
                <a:latin typeface="Neue Haas Grotesk Text Pro"/>
              </a:rPr>
              <a:t>Anchors</a:t>
            </a:r>
            <a:r>
              <a:rPr lang="en-US" dirty="0">
                <a:ea typeface="+mn-lt"/>
                <a:cs typeface="+mn-lt"/>
              </a:rPr>
              <a:t> are most important.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263D388-E3F5-CFAA-DC80-589AB2A854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706852"/>
              </p:ext>
            </p:extLst>
          </p:nvPr>
        </p:nvGraphicFramePr>
        <p:xfrm>
          <a:off x="781050" y="4371113"/>
          <a:ext cx="10629899" cy="166935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43300">
                  <a:extLst>
                    <a:ext uri="{9D8B030D-6E8A-4147-A177-3AD203B41FA5}">
                      <a16:colId xmlns:a16="http://schemas.microsoft.com/office/drawing/2014/main" val="573642354"/>
                    </a:ext>
                  </a:extLst>
                </a:gridCol>
                <a:gridCol w="1708452">
                  <a:extLst>
                    <a:ext uri="{9D8B030D-6E8A-4147-A177-3AD203B41FA5}">
                      <a16:colId xmlns:a16="http://schemas.microsoft.com/office/drawing/2014/main" val="2018985723"/>
                    </a:ext>
                  </a:extLst>
                </a:gridCol>
                <a:gridCol w="5378147">
                  <a:extLst>
                    <a:ext uri="{9D8B030D-6E8A-4147-A177-3AD203B41FA5}">
                      <a16:colId xmlns:a16="http://schemas.microsoft.com/office/drawing/2014/main" val="39952017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dirty="0">
                          <a:effectLst/>
                          <a:latin typeface="Neue Haas Grotesk Text Pro"/>
                        </a:rPr>
                        <a:t>Model</a:t>
                      </a:r>
                      <a:endParaRPr lang="en-US" dirty="0">
                        <a:effectLst/>
                        <a:latin typeface="Neue Haas Grotesk Text Pro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dirty="0">
                          <a:effectLst/>
                          <a:latin typeface="Neue Haas Grotesk Text Pro"/>
                        </a:rPr>
                        <a:t>Accuracy</a:t>
                      </a:r>
                      <a:endParaRPr lang="en-US" dirty="0">
                        <a:effectLst/>
                        <a:latin typeface="Neue Haas Grotesk Text Pro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dirty="0">
                          <a:effectLst/>
                          <a:latin typeface="Neue Haas Grotesk Text Pro"/>
                        </a:rPr>
                        <a:t>Key Features</a:t>
                      </a:r>
                      <a:endParaRPr lang="en-US" dirty="0">
                        <a:effectLst/>
                        <a:latin typeface="Neue Haas Grotesk Text Pro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66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Neue Haas Grotesk Text Pro"/>
                        </a:rPr>
                        <a:t>Logistic Regression</a:t>
                      </a:r>
                      <a:endParaRPr lang="en-US" dirty="0">
                        <a:effectLst/>
                        <a:latin typeface="Neue Haas Grotesk Text Pro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Neue Haas Grotesk Text Pro"/>
                        </a:rPr>
                        <a:t>92.4%</a:t>
                      </a:r>
                      <a:endParaRPr lang="en-US" dirty="0">
                        <a:effectLst/>
                        <a:latin typeface="Neue Haas Grotesk Text Pro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 err="1">
                          <a:effectLst/>
                          <a:latin typeface="Neue Haas Grotesk Text Pro"/>
                        </a:rPr>
                        <a:t>URL_of_Anchor</a:t>
                      </a:r>
                      <a:r>
                        <a:rPr lang="en-US" sz="1800" dirty="0">
                          <a:effectLst/>
                          <a:latin typeface="Neue Haas Grotesk Text Pro"/>
                        </a:rPr>
                        <a:t>, </a:t>
                      </a:r>
                      <a:r>
                        <a:rPr lang="en-US" sz="1800" dirty="0" err="1">
                          <a:effectLst/>
                          <a:latin typeface="Neue Haas Grotesk Text Pro"/>
                        </a:rPr>
                        <a:t>Prefix_Suffix</a:t>
                      </a:r>
                      <a:r>
                        <a:rPr lang="en-US" sz="1800" dirty="0">
                          <a:effectLst/>
                          <a:latin typeface="Neue Haas Grotesk Text Pro"/>
                        </a:rPr>
                        <a:t>, </a:t>
                      </a:r>
                      <a:r>
                        <a:rPr lang="en-US" sz="1800" dirty="0" err="1">
                          <a:effectLst/>
                          <a:latin typeface="Neue Haas Grotesk Text Pro"/>
                        </a:rPr>
                        <a:t>SSLfinal_State</a:t>
                      </a:r>
                      <a:endParaRPr lang="en-US" dirty="0" err="1">
                        <a:effectLst/>
                        <a:latin typeface="Neue Haas Grotesk Text Pro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30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Neue Haas Grotesk Text Pro"/>
                        </a:rPr>
                        <a:t>Decision Tree</a:t>
                      </a:r>
                      <a:endParaRPr lang="en-US" dirty="0">
                        <a:effectLst/>
                        <a:latin typeface="Neue Haas Grotesk Text Pro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Neue Haas Grotesk Text Pro"/>
                        </a:rPr>
                        <a:t>92.5%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 err="1">
                          <a:effectLst/>
                          <a:latin typeface="Neue Haas Grotesk Text Pro"/>
                        </a:rPr>
                        <a:t>SSLfinal_State</a:t>
                      </a:r>
                      <a:r>
                        <a:rPr lang="en-US" sz="1800" dirty="0">
                          <a:effectLst/>
                          <a:latin typeface="Neue Haas Grotesk Text Pro"/>
                        </a:rPr>
                        <a:t>, </a:t>
                      </a:r>
                      <a:r>
                        <a:rPr lang="en-US" sz="1800" dirty="0" err="1">
                          <a:effectLst/>
                          <a:latin typeface="Neue Haas Grotesk Text Pro"/>
                        </a:rPr>
                        <a:t>URL_of_Anchor</a:t>
                      </a:r>
                      <a:endParaRPr lang="en-US" dirty="0" err="1">
                        <a:effectLst/>
                        <a:latin typeface="Neue Haas Grotesk Text Pro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123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Neue Haas Grotesk Text Pro"/>
                        </a:rPr>
                        <a:t>Random Forest</a:t>
                      </a:r>
                      <a:endParaRPr lang="en-US" dirty="0">
                        <a:effectLst/>
                        <a:latin typeface="Neue Haas Grotesk Text Pro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Neue Haas Grotesk Text Pro"/>
                        </a:rPr>
                        <a:t>96.7%</a:t>
                      </a:r>
                      <a:endParaRPr lang="en-US" dirty="0">
                        <a:effectLst/>
                        <a:latin typeface="Neue Haas Grotesk Text Pro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 err="1">
                          <a:effectLst/>
                          <a:latin typeface="Neue Haas Grotesk Text Pro"/>
                        </a:rPr>
                        <a:t>SSLfinal_State</a:t>
                      </a:r>
                      <a:r>
                        <a:rPr lang="en-US" sz="1800" dirty="0">
                          <a:effectLst/>
                          <a:latin typeface="Neue Haas Grotesk Text Pro"/>
                        </a:rPr>
                        <a:t>, </a:t>
                      </a:r>
                      <a:r>
                        <a:rPr lang="en-US" sz="1800" dirty="0" err="1">
                          <a:effectLst/>
                          <a:latin typeface="Neue Haas Grotesk Text Pro"/>
                        </a:rPr>
                        <a:t>URL_of_Anchor</a:t>
                      </a:r>
                      <a:r>
                        <a:rPr lang="en-US" sz="1800" dirty="0">
                          <a:effectLst/>
                          <a:latin typeface="Neue Haas Grotesk Text Pro"/>
                        </a:rPr>
                        <a:t>, </a:t>
                      </a:r>
                      <a:r>
                        <a:rPr lang="en-US" sz="1800" dirty="0" err="1">
                          <a:effectLst/>
                          <a:latin typeface="Neue Haas Grotesk Text Pro"/>
                        </a:rPr>
                        <a:t>web_traffic</a:t>
                      </a:r>
                      <a:endParaRPr lang="en-US" dirty="0" err="1">
                        <a:effectLst/>
                        <a:latin typeface="Neue Haas Grotesk Text Pro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591330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0ECDC0E3-2CBB-24DD-F28F-51BAAB51E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8249" y="232258"/>
            <a:ext cx="4805155" cy="32019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8D5BDA-A6B8-8FEA-D7C7-A599233B56E9}"/>
              </a:ext>
            </a:extLst>
          </p:cNvPr>
          <p:cNvSpPr txBox="1"/>
          <p:nvPr/>
        </p:nvSpPr>
        <p:spPr>
          <a:xfrm>
            <a:off x="7830546" y="3439199"/>
            <a:ext cx="343893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Results from Random Forest</a:t>
            </a:r>
          </a:p>
        </p:txBody>
      </p:sp>
    </p:spTree>
    <p:extLst>
      <p:ext uri="{BB962C8B-B14F-4D97-AF65-F5344CB8AC3E}">
        <p14:creationId xmlns:p14="http://schemas.microsoft.com/office/powerpoint/2010/main" val="1796649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AB9B8B4-6AA0-6EC2-5180-35BA3CFC2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9C604-D2BC-DF4E-F6BD-0146799BF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48640"/>
            <a:ext cx="10872215" cy="1132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Random Forest Results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A2FE961-FD17-B8FA-D54D-C44CAE8DDD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151" r="12305" b="2"/>
          <a:stretch>
            <a:fillRect/>
          </a:stretch>
        </p:blipFill>
        <p:spPr>
          <a:xfrm>
            <a:off x="731520" y="1775012"/>
            <a:ext cx="6355080" cy="4534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EACBA4-74B8-F7BE-03C3-E30880038BE7}"/>
              </a:ext>
            </a:extLst>
          </p:cNvPr>
          <p:cNvSpPr txBox="1"/>
          <p:nvPr/>
        </p:nvSpPr>
        <p:spPr>
          <a:xfrm>
            <a:off x="7485529" y="1775012"/>
            <a:ext cx="3999334" cy="453434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 </a:t>
            </a:r>
            <a:r>
              <a:rPr lang="en-US" dirty="0" err="1"/>
              <a:t>SSLfinal_State</a:t>
            </a:r>
            <a:r>
              <a:rPr lang="en-US" dirty="0"/>
              <a:t>: #1 most important feature for the model.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 </a:t>
            </a:r>
            <a:r>
              <a:rPr lang="en-US" dirty="0" err="1"/>
              <a:t>URL_of_Anchor</a:t>
            </a:r>
            <a:r>
              <a:rPr lang="en-US" dirty="0"/>
              <a:t>: #2 most important feature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918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5B9334-3E03-4CA7-3616-4D3C9DC2C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2D739E-9044-1BA0-3666-DA8D2F252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856" y="548640"/>
            <a:ext cx="9162288" cy="1132258"/>
          </a:xfrm>
        </p:spPr>
        <p:txBody>
          <a:bodyPr>
            <a:normAutofit/>
          </a:bodyPr>
          <a:lstStyle/>
          <a:p>
            <a:r>
              <a:rPr lang="en-US" dirty="0"/>
              <a:t>Recommendations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5E2A47-ADE4-2E13-CFFD-B0B8473587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5167883"/>
              </p:ext>
            </p:extLst>
          </p:nvPr>
        </p:nvGraphicFramePr>
        <p:xfrm>
          <a:off x="1514856" y="2039112"/>
          <a:ext cx="9162288" cy="4069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672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274E24-7CE6-8D8C-E303-F00ABCE2B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Conclusion</a:t>
            </a:r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E68DCAF-39B9-4778-7C03-20A4314569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1407281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990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F063C-2759-8BA7-4897-FC4EDED97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and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CFB4D-79B5-5A63-2151-1184F57A8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1200" b="1" u="sng" dirty="0"/>
              <a:t>Dataset source:</a:t>
            </a:r>
            <a:endParaRPr lang="en-US" sz="1200" dirty="0"/>
          </a:p>
          <a:p>
            <a:r>
              <a:rPr lang="fr-FR" sz="1200" dirty="0"/>
              <a:t>Mohammad, R., &amp; </a:t>
            </a:r>
            <a:r>
              <a:rPr lang="fr-FR" sz="1200" dirty="0" err="1"/>
              <a:t>McCluskey</a:t>
            </a:r>
            <a:r>
              <a:rPr lang="fr-FR" sz="1200" dirty="0"/>
              <a:t>, L. (2015, March 25). </a:t>
            </a:r>
            <a:r>
              <a:rPr lang="fr-FR" sz="1200" i="1" dirty="0"/>
              <a:t>Phishing </a:t>
            </a:r>
            <a:r>
              <a:rPr lang="fr-FR" sz="1200" i="1" dirty="0" err="1"/>
              <a:t>Websites</a:t>
            </a:r>
            <a:r>
              <a:rPr lang="fr-FR" sz="1200" i="1" dirty="0"/>
              <a:t>.</a:t>
            </a:r>
            <a:r>
              <a:rPr lang="fr-FR" sz="1200" dirty="0"/>
              <a:t> UC Irvine. </a:t>
            </a:r>
            <a:r>
              <a:rPr lang="fr-FR" sz="1200" dirty="0" err="1"/>
              <a:t>Retrieved</a:t>
            </a:r>
            <a:r>
              <a:rPr lang="fr-FR" sz="1200" dirty="0"/>
              <a:t> </a:t>
            </a:r>
            <a:r>
              <a:rPr lang="fr-FR" sz="1200" dirty="0" err="1"/>
              <a:t>from</a:t>
            </a:r>
            <a:r>
              <a:rPr lang="fr-FR" sz="1200" dirty="0"/>
              <a:t> </a:t>
            </a:r>
            <a:r>
              <a:rPr lang="fr-FR" sz="1200" u="sng" dirty="0">
                <a:hlinkClick r:id="rId2"/>
              </a:rPr>
              <a:t>https://archive.ics.uci.edu/dataset/327/phishing+websites</a:t>
            </a:r>
            <a:r>
              <a:rPr lang="fr-FR" sz="1200" dirty="0"/>
              <a:t> </a:t>
            </a:r>
            <a:endParaRPr lang="en-US" sz="1200" dirty="0"/>
          </a:p>
          <a:p>
            <a:endParaRPr lang="en-US" sz="1200" dirty="0"/>
          </a:p>
          <a:p>
            <a:r>
              <a:rPr lang="en-US" sz="1200" b="1" u="sng" dirty="0"/>
              <a:t>Tools:</a:t>
            </a:r>
            <a:endParaRPr lang="en-US" sz="1200" dirty="0"/>
          </a:p>
          <a:p>
            <a:r>
              <a:rPr lang="en-US" sz="1200" dirty="0" err="1"/>
              <a:t>Jupyter</a:t>
            </a:r>
            <a:r>
              <a:rPr lang="en-US" sz="1200" dirty="0"/>
              <a:t> Notebook: </a:t>
            </a:r>
            <a:r>
              <a:rPr lang="en-US" sz="1200" u="sng" dirty="0">
                <a:hlinkClick r:id="rId3"/>
              </a:rPr>
              <a:t>https://jupyter.org/</a:t>
            </a:r>
            <a:r>
              <a:rPr lang="en-US" sz="1200" dirty="0"/>
              <a:t> </a:t>
            </a:r>
          </a:p>
          <a:p>
            <a:endParaRPr lang="en-US" sz="1200" dirty="0"/>
          </a:p>
          <a:p>
            <a:r>
              <a:rPr lang="en-US" sz="1200" b="1" u="sng" dirty="0"/>
              <a:t>References:</a:t>
            </a:r>
            <a:endParaRPr lang="en-US" sz="1200" dirty="0"/>
          </a:p>
          <a:p>
            <a:r>
              <a:rPr lang="en-US" sz="1200" dirty="0"/>
              <a:t>Cote, C. (2021, October 26). </a:t>
            </a:r>
            <a:r>
              <a:rPr lang="en-US" sz="1200" i="1" dirty="0"/>
              <a:t>WHAT IS PREDICTIVE ANALYTICS? 5 EXAMPLES</a:t>
            </a:r>
            <a:r>
              <a:rPr lang="en-US" sz="1200" dirty="0"/>
              <a:t>. Harvard Business School Online. Retrieved from </a:t>
            </a:r>
            <a:r>
              <a:rPr lang="en-US" sz="1200" u="sng" dirty="0">
                <a:hlinkClick r:id="rId4"/>
              </a:rPr>
              <a:t>https://online.hbs.edu/blog/post/predictive-analytics</a:t>
            </a:r>
            <a:r>
              <a:rPr lang="en-US" sz="1200" dirty="0"/>
              <a:t> </a:t>
            </a:r>
          </a:p>
          <a:p>
            <a:r>
              <a:rPr lang="en-US" sz="1200" dirty="0"/>
              <a:t>Kumar, A. (2023, January 13). </a:t>
            </a:r>
            <a:r>
              <a:rPr lang="en-US" sz="1200" i="1" dirty="0"/>
              <a:t>Data Variables Types &amp; Uses in Data Science</a:t>
            </a:r>
            <a:r>
              <a:rPr lang="en-US" sz="1200" dirty="0"/>
              <a:t>. Analytics Yogi. Retrieved from </a:t>
            </a:r>
            <a:r>
              <a:rPr lang="en-US" sz="1200" u="sng" dirty="0">
                <a:hlinkClick r:id="rId5"/>
              </a:rPr>
              <a:t>https://vitalflux.com/data-variables-types-uses-in-data-science/</a:t>
            </a:r>
            <a:r>
              <a:rPr lang="en-US" sz="1200" dirty="0"/>
              <a:t> </a:t>
            </a:r>
          </a:p>
          <a:p>
            <a:r>
              <a:rPr lang="en-US" sz="1200" dirty="0"/>
              <a:t>Villegas, F. (n.d.). </a:t>
            </a:r>
            <a:r>
              <a:rPr lang="en-US" sz="1200" i="1" dirty="0"/>
              <a:t>Descriptive Analysis: What It Is + Best Research Tips</a:t>
            </a:r>
            <a:r>
              <a:rPr lang="en-US" sz="1200" dirty="0"/>
              <a:t>. </a:t>
            </a:r>
            <a:r>
              <a:rPr lang="en-US" sz="1200" dirty="0" err="1"/>
              <a:t>QuestionPro</a:t>
            </a:r>
            <a:r>
              <a:rPr lang="en-US" sz="1200" dirty="0"/>
              <a:t>. Retrieved from </a:t>
            </a:r>
            <a:r>
              <a:rPr lang="en-US" sz="1200" u="sng" dirty="0">
                <a:hlinkClick r:id="rId6"/>
              </a:rPr>
              <a:t>https://www.questionpro.com/blog/descriptive-analysis/</a:t>
            </a:r>
            <a:r>
              <a:rPr lang="en-US" sz="1200" dirty="0"/>
              <a:t> </a:t>
            </a:r>
          </a:p>
          <a:p>
            <a:r>
              <a:rPr lang="en-US" sz="1200" i="1" dirty="0"/>
              <a:t>What is exploratory data analysis (EDA)?</a:t>
            </a:r>
            <a:r>
              <a:rPr lang="en-US" sz="1200" dirty="0"/>
              <a:t> (n.d.). IBM. Retrieved from </a:t>
            </a:r>
            <a:r>
              <a:rPr lang="en-US" sz="1200" u="sng" dirty="0">
                <a:hlinkClick r:id="rId7"/>
              </a:rPr>
              <a:t>https://www.ibm.com/think/topics/exploratory-data-analysis</a:t>
            </a:r>
            <a:r>
              <a:rPr lang="en-US" sz="12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608454327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VanillaVTI</vt:lpstr>
      <vt:lpstr>HTCS6706 Data Analysis Part 3: Presentation</vt:lpstr>
      <vt:lpstr>Project Overview</vt:lpstr>
      <vt:lpstr>The Dataset</vt:lpstr>
      <vt:lpstr>Cybersecurity Questions</vt:lpstr>
      <vt:lpstr>Analysis Process</vt:lpstr>
      <vt:lpstr>Key Findings:  Descriptive &amp; Exploratory </vt:lpstr>
      <vt:lpstr>Visual Highlights:  Bar chart </vt:lpstr>
      <vt:lpstr>Visual Highlights: Boxplot </vt:lpstr>
      <vt:lpstr>Visual Highlights: Heatmap  </vt:lpstr>
      <vt:lpstr>Visual Highlights –Scatter plot </vt:lpstr>
      <vt:lpstr>Predictive Model Comparison  </vt:lpstr>
      <vt:lpstr>Random Forest Results</vt:lpstr>
      <vt:lpstr>Recommendations</vt:lpstr>
      <vt:lpstr>Conclusion</vt:lpstr>
      <vt:lpstr>Resources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257</cp:revision>
  <dcterms:created xsi:type="dcterms:W3CDTF">2025-11-12T06:03:22Z</dcterms:created>
  <dcterms:modified xsi:type="dcterms:W3CDTF">2025-11-12T22:14:46Z</dcterms:modified>
</cp:coreProperties>
</file>